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977639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88952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9539"/>
            <a:ext cx="12188952" cy="76200"/>
          </a:xfrm>
          <a:prstGeom prst="rect">
            <a:avLst/>
          </a:prstGeom>
          <a:solidFill>
            <a:srgbClr val="1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13739"/>
            <a:ext cx="8714232" cy="218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eiryo UI"/>
              </a:rPr>
              <a:t>クイック社PJT｜競合・市場インテリジェンス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01441"/>
            <a:ext cx="8714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CD8F0"/>
                </a:solidFill>
                <a:latin typeface="Meiryo UI"/>
              </a:rPr>
              <a:t>SALESCORE社内共有用｜2026年3月27日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エージェント業界で今起きている3つの構造変化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「集客で勝つ」戦略は崩壊。クイック社の競争力の源泉は</a:t>
            </a:r>
            <a:r>
              <a:rPr sz="1800" b="1" i="0">
                <a:solidFill>
                  <a:srgbClr val="1A1A1A"/>
                </a:solidFill>
                <a:latin typeface="Meiryo UI"/>
              </a:rPr>
              <a:t>面談の深さ</a:t>
            </a:r>
            <a:r>
              <a:rPr sz="1800" b="0" i="0">
                <a:solidFill>
                  <a:srgbClr val="1A1A1A"/>
                </a:solidFill>
                <a:latin typeface="Meiryo UI"/>
              </a:rPr>
              <a:t>に移った。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1280160"/>
            <a:ext cx="10515600" cy="2415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スカウト媒体高騰 → 集客戦略の崩壊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JACレベルでも費用対効果が急悪化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生存策：決定率向上＋口コミ・リファラル獲得へ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オーナーシップ争奪の激化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先に推薦した社が求職者を確保する構造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速度で負けた時点で面談すら発生しない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成長AGTの共通勝ちパターン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接触回数増×高決定率×リファラルで集客費ゼロ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イズル：10面談→5決定、広告費ほぼゼロを実現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504" y="3746957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" y="3848557"/>
            <a:ext cx="10515600" cy="2415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示唆：大手（数勝負）・中堅（体験価値）両方と競合するクイック社は、両方を加味した面談設計が必要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Meiryo UI"/>
              </a:rPr>
              <a:t>出典：人材ベンチャー経営層インタビュー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競合の現場で実際に何が起きているか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JACですら仕組みは機能不全。クイック社の勝ち筋は</a:t>
            </a:r>
            <a:r>
              <a:rPr sz="1800" b="1" i="0">
                <a:solidFill>
                  <a:srgbClr val="1A1A1A"/>
                </a:solidFill>
                <a:latin typeface="Meiryo UI"/>
              </a:rPr>
              <a:t>ホスピタリティ×面談の深さ</a:t>
            </a:r>
            <a:r>
              <a:rPr sz="1800" b="0" i="0">
                <a:solidFill>
                  <a:srgbClr val="1A1A1A"/>
                </a:solidFill>
                <a:latin typeface="Meiryo UI"/>
              </a:rPr>
              <a:t>の掛け算。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JAC Recruitment（S事業部競合）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632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レバウェル看護（M事業部競合）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54" y="1280160"/>
            <a:ext cx="12700" cy="498439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" y="1627632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Meiryo UI"/>
              </a:rPr>
              <a:t>「仕組み化の先頭走者」の光と影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コンサルタント1,700名・売上460億円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オリコン顧客満足度8年連続1位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504" y="3920693"/>
            <a:ext cx="50977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4022293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MGR属人化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：プレイヤー適性のままMGR昇格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KPI管理暴走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：優秀社員が退職するレベルで蔓延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求職者評価：「プロだが冷たく突き放す」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→ ホスピタリティ×プロセス管理がJACにない差別化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Meiryo UI"/>
              </a:rPr>
              <a:t>出典：社員口コミ横断分析（2024〜2026年投稿、複数類似投稿で裏付け確認）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6324" y="1627632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Meiryo UI"/>
              </a:rPr>
              <a:t>「スピード×仕組み」で市場を制圧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月間ユーザー25万人超・全国47都道府県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登録→即架電→当日提案をシステム化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6324" y="3920693"/>
            <a:ext cx="50977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6324" y="4022293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Meiryo UI"/>
              </a:rPr>
              <a:t>ハイパフォーマーの型：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条件緩和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：「現実的に必要な給与は？」と本質を突く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ライフプラン提案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：3年後の給与・家族の生活まで描く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→ スピードでは勝てない。面談の深さで逆転する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Meiryo UI"/>
              </a:rPr>
              <a:t>出典：人材ベンチャー経営層インタビュー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クイック社のポジションとSALESCOREの支援方針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大手でも中堅でもない独自ポジション。SALESCOREは</a:t>
            </a:r>
            <a:r>
              <a:rPr sz="1800" b="1" i="0">
                <a:solidFill>
                  <a:srgbClr val="1A1A1A"/>
                </a:solidFill>
                <a:latin typeface="Meiryo UI"/>
              </a:rPr>
              <a:t>両方の武器を持つCA育成</a:t>
            </a:r>
            <a:r>
              <a:rPr sz="1800" b="0" i="0">
                <a:solidFill>
                  <a:srgbClr val="1A1A1A"/>
                </a:solidFill>
                <a:latin typeface="Meiryo UI"/>
              </a:rPr>
              <a:t>を担う。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504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分類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戦い方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クイック社との関係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大手（パーソル・リクルート）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求人数・推薦数で勝負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バッティングする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中堅・ベンチャー（イズル等）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面談体験価値で勝負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バッティングする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eiryo UI"/>
                        </a:rPr>
                        <a:t>クイック社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Meiryo UI"/>
                        </a:rPr>
                        <a:t>両方が必要な唯一のプレイヤー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独自ポジション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504" y="5047488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支援方針① 「教える」でなく「共想する」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324" y="5047488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支援方針② 事業部別に「何と戦うか」を変える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54" y="5047488"/>
            <a:ext cx="12700" cy="121706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5394960"/>
            <a:ext cx="5097780" cy="86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JACも同じMGR属人化に苦しむ事実を共有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「業界トップも抱える構造課題」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と伝え納得感を醸成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PoCの「Unit長との共想スタンス」を全体展開でも一貫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6324" y="5394960"/>
            <a:ext cx="5097780" cy="86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S事業部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：ミニゴール＝「管理」でなく「振り返りの型」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1" i="0">
                <a:solidFill>
                  <a:srgbClr val="1A1A1A"/>
                </a:solidFill>
                <a:latin typeface="Meiryo UI"/>
              </a:rPr>
              <a:t>M事業部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：条件緩和・ライフプラン提案＝ミニゴールの上位レベル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6271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