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977639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88952" cy="2880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39539"/>
            <a:ext cx="12188952" cy="76200"/>
          </a:xfrm>
          <a:prstGeom prst="rect">
            <a:avLst/>
          </a:prstGeom>
          <a:solidFill>
            <a:srgbClr val="1B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13739"/>
            <a:ext cx="8714232" cy="21877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</a:rPr>
              <a:t>ビジネス戦略レポート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01441"/>
            <a:ext cx="87142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CCD8F0"/>
                </a:solidFill>
              </a:rPr>
              <a:t>SALESCOREセールス戦略部門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112" y="73152"/>
            <a:ext cx="2011680" cy="62570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473952"/>
            <a:ext cx="12188952" cy="15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120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 i="0">
                <a:solidFill>
                  <a:srgbClr val="808080"/>
                </a:solidFill>
              </a:rPr>
              <a:t>Confidential All Rights Reserved SALESCORE Inc.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40312" y="651205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08080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514600"/>
            <a:ext cx="99943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FFFFFF"/>
                </a:solidFill>
              </a:rPr>
              <a:t>1. エグゼクティブサマリー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3657600"/>
            <a:ext cx="2286000" cy="38100"/>
          </a:xfrm>
          <a:prstGeom prst="rect">
            <a:avLst/>
          </a:prstGeom>
          <a:solidFill>
            <a:srgbClr val="1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112" y="73152"/>
            <a:ext cx="2011680" cy="62570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73952"/>
            <a:ext cx="12188952" cy="15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120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 i="0">
                <a:solidFill>
                  <a:srgbClr val="808080"/>
                </a:solidFill>
              </a:rPr>
              <a:t>Confidential All Rights Reserved SALESCORE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40312" y="651205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08080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"/>
            <a:ext cx="94914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i="0">
                <a:solidFill>
                  <a:srgbClr val="55657A"/>
                </a:solidFill>
              </a:rPr>
              <a:t>1.1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46888"/>
            <a:ext cx="9491472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>
                <a:solidFill>
                  <a:srgbClr val="1A1A1A"/>
                </a:solidFill>
              </a:rPr>
              <a:t>概要・主要メッセージ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58952"/>
            <a:ext cx="12188952" cy="228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23544"/>
            <a:ext cx="114117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1A1A1A"/>
                </a:solidFill>
              </a:rPr>
              <a:t>本資料は2026年度の市場動向分析と戦略提言をまとめたものです。各部門のデータを統合し、成長機会を明確化します。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17904"/>
            <a:ext cx="11411712" cy="4864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売上目標: 前年比130%達成を目指す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重点市場: エンタープライズ・中堅企業セグメント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主要施策: 3つの柱（獲得・育成・維持）に集約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112" y="73152"/>
            <a:ext cx="2011680" cy="62570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73952"/>
            <a:ext cx="12188952" cy="15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120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 i="0">
                <a:solidFill>
                  <a:srgbClr val="808080"/>
                </a:solidFill>
              </a:rPr>
              <a:t>Confidential All Rights Reserved SALESCORE Inc.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40312" y="651205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08080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"/>
            <a:ext cx="94914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i="0">
                <a:solidFill>
                  <a:srgbClr val="55657A"/>
                </a:solidFill>
              </a:rPr>
              <a:t>1.2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46888"/>
            <a:ext cx="9491472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>
                <a:solidFill>
                  <a:srgbClr val="1A1A1A"/>
                </a:solidFill>
              </a:rPr>
              <a:t>KPI サマリー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58952"/>
            <a:ext cx="12188952" cy="228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23544"/>
            <a:ext cx="114117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1A1A1A"/>
                </a:solidFill>
              </a:rPr>
              <a:t>四半期ごとの主要指標を一覧で確認できます。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17904"/>
          <a:ext cx="1141171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2342"/>
                <a:gridCol w="2282342"/>
                <a:gridCol w="2282342"/>
                <a:gridCol w="2282342"/>
                <a:gridCol w="2282342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</a:rPr>
                        <a:t>指標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</a:rPr>
                        <a:t>Q1実績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</a:rPr>
                        <a:t>Q2実績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</a:rPr>
                        <a:t>Q3実績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</a:rPr>
                        <a:t>Q4目標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</a:rPr>
                        <a:t>新規契約数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</a:rPr>
                        <a:t>42件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</a:rPr>
                        <a:t>58件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</a:rPr>
                        <a:t>71件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</a:rPr>
                        <a:t>90件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</a:rPr>
                        <a:t>MRR（万円）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</a:rPr>
                        <a:t>1,200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</a:rPr>
                        <a:t>1,580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</a:rPr>
                        <a:t>2,040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</a:rPr>
                        <a:t>2,700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</a:rPr>
                        <a:t>チャーンレート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</a:rPr>
                        <a:t>2.1%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</a:rPr>
                        <a:t>1.8%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</a:rPr>
                        <a:t>1.5%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</a:rPr>
                        <a:t>1.2%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</a:rPr>
                        <a:t>NPS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</a:rPr>
                        <a:t>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</a:rP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112" y="73152"/>
            <a:ext cx="2011680" cy="62570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73952"/>
            <a:ext cx="12188952" cy="15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120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 i="0">
                <a:solidFill>
                  <a:srgbClr val="808080"/>
                </a:solidFill>
              </a:rPr>
              <a:t>Confidential All Rights Reserved SALESCORE Inc.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40312" y="651205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08080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514600"/>
            <a:ext cx="99943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FFFFFF"/>
                </a:solidFill>
              </a:rPr>
              <a:t>2. 市場分析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3657600"/>
            <a:ext cx="2286000" cy="38100"/>
          </a:xfrm>
          <a:prstGeom prst="rect">
            <a:avLst/>
          </a:prstGeom>
          <a:solidFill>
            <a:srgbClr val="1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112" y="73152"/>
            <a:ext cx="2011680" cy="62570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73952"/>
            <a:ext cx="12188952" cy="15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120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 i="0">
                <a:solidFill>
                  <a:srgbClr val="808080"/>
                </a:solidFill>
              </a:rPr>
              <a:t>Confidential All Rights Reserved SALESCORE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40312" y="651205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08080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"/>
            <a:ext cx="94914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i="0">
                <a:solidFill>
                  <a:srgbClr val="55657A"/>
                </a:solidFill>
              </a:rPr>
              <a:t>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46888"/>
            <a:ext cx="9491472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>
                <a:solidFill>
                  <a:srgbClr val="1A1A1A"/>
                </a:solidFill>
              </a:rPr>
              <a:t>市場環境と競合状況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58952"/>
            <a:ext cx="12188952" cy="228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23544"/>
            <a:ext cx="114117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1A1A1A"/>
                </a:solidFill>
              </a:rPr>
              <a:t>SaaS市場は急速に拡大しており、差別化が競争優位の鍵です。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17904"/>
            <a:ext cx="55458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i="0">
                <a:solidFill>
                  <a:srgbClr val="1D3461"/>
                </a:solidFill>
              </a:rPr>
              <a:t>機会（Opportunities）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517904"/>
            <a:ext cx="55458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i="0">
                <a:solidFill>
                  <a:srgbClr val="1D3461"/>
                </a:solidFill>
              </a:rPr>
              <a:t>脅威（Threats）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156706" y="1517904"/>
            <a:ext cx="12700" cy="486460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865376"/>
            <a:ext cx="5545836" cy="4517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クラウド移行需要の増加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SMB市場の未開拓ポテンシャル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パートナーエコシステムの拡充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000" b="0" i="0">
                <a:solidFill>
                  <a:srgbClr val="808080"/>
                </a:solidFill>
              </a:rPr>
              <a:t>      – </a:t>
            </a:r>
            <a:r>
              <a:rPr sz="1100" b="0" i="0">
                <a:solidFill>
                  <a:srgbClr val="1A1A1A"/>
                </a:solidFill>
              </a:rPr>
              <a:t>ISVパートナー: 15社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000" b="0" i="0">
                <a:solidFill>
                  <a:srgbClr val="808080"/>
                </a:solidFill>
              </a:rPr>
              <a:t>      – </a:t>
            </a:r>
            <a:r>
              <a:rPr sz="1100" b="0" i="0">
                <a:solidFill>
                  <a:srgbClr val="1A1A1A"/>
                </a:solidFill>
              </a:rPr>
              <a:t>リセラー: 40社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3076" y="1865376"/>
            <a:ext cx="5545836" cy="4517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競合の価格競争激化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顧客の意思決定長期化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景気不透明感による予算削減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000" b="0" i="0">
                <a:solidFill>
                  <a:srgbClr val="808080"/>
                </a:solidFill>
              </a:rPr>
              <a:t>      – </a:t>
            </a:r>
            <a:r>
              <a:rPr sz="1100" b="0" i="0">
                <a:solidFill>
                  <a:srgbClr val="1A1A1A"/>
                </a:solidFill>
              </a:rPr>
              <a:t>IT予算凍結企業: 約18%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000" b="0" i="0">
                <a:solidFill>
                  <a:srgbClr val="808080"/>
                </a:solidFill>
              </a:rPr>
              <a:t>      – </a:t>
            </a:r>
            <a:r>
              <a:rPr sz="1100" b="0" i="0">
                <a:solidFill>
                  <a:srgbClr val="1A1A1A"/>
                </a:solidFill>
              </a:rPr>
              <a:t>延期案件: 前年比+22%</a:t>
            </a:r>
          </a:p>
        </p:txBody>
      </p:sp>
      <p:pic>
        <p:nvPicPr>
          <p:cNvPr id="12" name="Picture 1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112" y="73152"/>
            <a:ext cx="2011680" cy="62570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0" y="6473952"/>
            <a:ext cx="12188952" cy="15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5120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 i="0">
                <a:solidFill>
                  <a:srgbClr val="808080"/>
                </a:solidFill>
              </a:rPr>
              <a:t>Confidential All Rights Reserved SALESCORE Inc.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40312" y="651205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08080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"/>
            <a:ext cx="94914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i="0">
                <a:solidFill>
                  <a:srgbClr val="55657A"/>
                </a:solidFill>
              </a:rPr>
              <a:t>2.2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46888"/>
            <a:ext cx="9491472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>
                <a:solidFill>
                  <a:srgbClr val="1A1A1A"/>
                </a:solidFill>
              </a:rPr>
              <a:t>顧客セグメント別分析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58952"/>
            <a:ext cx="12188952" cy="228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23544"/>
            <a:ext cx="114117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1A1A1A"/>
                </a:solidFill>
              </a:rPr>
              <a:t>ターゲットセグメントごとの攻略優先度を整理しました。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17904"/>
          <a:ext cx="1141171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2342"/>
                <a:gridCol w="2282342"/>
                <a:gridCol w="2282342"/>
                <a:gridCol w="2282342"/>
                <a:gridCol w="2282342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</a:rPr>
                        <a:t>セグメント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</a:rPr>
                        <a:t>社員数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</a:rPr>
                        <a:t>平均契約額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</a:rPr>
                        <a:t>勝率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</a:rPr>
                        <a:t>優先度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</a:rPr>
                        <a:t>エンタープライズ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</a:rPr>
                        <a:t>1,000名以上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</a:rPr>
                        <a:t>480万円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</a:rPr>
                        <a:t>28%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</a:rPr>
                        <a:t>★★★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</a:rPr>
                        <a:t>中堅企業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</a:rPr>
                        <a:t>300〜999名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</a:rPr>
                        <a:t>180万円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</a:rPr>
                        <a:t>41%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</a:rPr>
                        <a:t>★★★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</a:rPr>
                        <a:t>SMB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</a:rPr>
                        <a:t>50〜299名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</a:rPr>
                        <a:t>60万円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</a:rPr>
                        <a:t>55%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</a:rPr>
                        <a:t>★★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</a:rPr>
                        <a:t>スタートアップ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</a:rPr>
                        <a:t>〜49名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</a:rPr>
                        <a:t>24万円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</a:rPr>
                        <a:t>67%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</a:rPr>
                        <a:t>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112" y="73152"/>
            <a:ext cx="2011680" cy="62570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73952"/>
            <a:ext cx="12188952" cy="15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120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 i="0">
                <a:solidFill>
                  <a:srgbClr val="808080"/>
                </a:solidFill>
              </a:rPr>
              <a:t>Confidential All Rights Reserved SALESCORE Inc.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40312" y="651205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08080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514600"/>
            <a:ext cx="99943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FFFFFF"/>
                </a:solidFill>
              </a:rPr>
              <a:t>3. 戦略・施策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3657600"/>
            <a:ext cx="2286000" cy="38100"/>
          </a:xfrm>
          <a:prstGeom prst="rect">
            <a:avLst/>
          </a:prstGeom>
          <a:solidFill>
            <a:srgbClr val="1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112" y="73152"/>
            <a:ext cx="2011680" cy="62570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73952"/>
            <a:ext cx="12188952" cy="15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120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 i="0">
                <a:solidFill>
                  <a:srgbClr val="808080"/>
                </a:solidFill>
              </a:rPr>
              <a:t>Confidential All Rights Reserved SALESCORE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40312" y="651205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08080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"/>
            <a:ext cx="94914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i="0">
                <a:solidFill>
                  <a:srgbClr val="55657A"/>
                </a:solidFill>
              </a:rPr>
              <a:t>3.1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46888"/>
            <a:ext cx="9491472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>
                <a:solidFill>
                  <a:srgbClr val="1A1A1A"/>
                </a:solidFill>
              </a:rPr>
              <a:t>3つの戦略柱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58952"/>
            <a:ext cx="12188952" cy="228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23544"/>
            <a:ext cx="114117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1A1A1A"/>
                </a:solidFill>
              </a:rPr>
              <a:t>獲得・育成・維持の3軸でリソースを最適配分します。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17904"/>
            <a:ext cx="11411712" cy="4864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300" b="1" i="0">
                <a:solidFill>
                  <a:srgbClr val="1B4FA8"/>
                </a:solidFill>
              </a:rPr>
              <a:t>1. </a:t>
            </a:r>
            <a:r>
              <a:rPr sz="1300" b="0" i="0">
                <a:solidFill>
                  <a:srgbClr val="1A1A1A"/>
                </a:solidFill>
              </a:rPr>
              <a:t>新規顧客獲得（Acquire）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000" b="0" i="0">
                <a:solidFill>
                  <a:srgbClr val="808080"/>
                </a:solidFill>
              </a:rPr>
              <a:t>      – </a:t>
            </a:r>
            <a:r>
              <a:rPr sz="1100" b="0" i="0">
                <a:solidFill>
                  <a:srgbClr val="1A1A1A"/>
                </a:solidFill>
              </a:rPr>
              <a:t>インバウンドマーケティングの強化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000" b="0" i="0">
                <a:solidFill>
                  <a:srgbClr val="808080"/>
                </a:solidFill>
              </a:rPr>
              <a:t>      – </a:t>
            </a:r>
            <a:r>
              <a:rPr sz="1100" b="0" i="0">
                <a:solidFill>
                  <a:srgbClr val="1A1A1A"/>
                </a:solidFill>
              </a:rPr>
              <a:t>アウトバウンドSDR体制の構築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300" b="1" i="0">
                <a:solidFill>
                  <a:srgbClr val="1B4FA8"/>
                </a:solidFill>
              </a:rPr>
              <a:t>2. </a:t>
            </a:r>
            <a:r>
              <a:rPr sz="1300" b="0" i="0">
                <a:solidFill>
                  <a:srgbClr val="1A1A1A"/>
                </a:solidFill>
              </a:rPr>
              <a:t>顧客育成（Expand）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000" b="0" i="0">
                <a:solidFill>
                  <a:srgbClr val="808080"/>
                </a:solidFill>
              </a:rPr>
              <a:t>      – </a:t>
            </a:r>
            <a:r>
              <a:rPr sz="1100" b="0" i="0">
                <a:solidFill>
                  <a:srgbClr val="1A1A1A"/>
                </a:solidFill>
              </a:rPr>
              <a:t>カスタマーサクセスチームの増強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000" b="0" i="0">
                <a:solidFill>
                  <a:srgbClr val="808080"/>
                </a:solidFill>
              </a:rPr>
              <a:t>      – </a:t>
            </a:r>
            <a:r>
              <a:rPr sz="1100" b="0" i="0">
                <a:solidFill>
                  <a:srgbClr val="1A1A1A"/>
                </a:solidFill>
              </a:rPr>
              <a:t>アップセル・クロスセルプログラム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300" b="1" i="0">
                <a:solidFill>
                  <a:srgbClr val="1B4FA8"/>
                </a:solidFill>
              </a:rPr>
              <a:t>3. </a:t>
            </a:r>
            <a:r>
              <a:rPr sz="1300" b="0" i="0">
                <a:solidFill>
                  <a:srgbClr val="1A1A1A"/>
                </a:solidFill>
              </a:rPr>
              <a:t>顧客維持（Retain）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000" b="0" i="0">
                <a:solidFill>
                  <a:srgbClr val="808080"/>
                </a:solidFill>
              </a:rPr>
              <a:t>      – </a:t>
            </a:r>
            <a:r>
              <a:rPr sz="1100" b="0" i="0">
                <a:solidFill>
                  <a:srgbClr val="1A1A1A"/>
                </a:solidFill>
              </a:rPr>
              <a:t>チャーン予測モデルの導入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000" b="0" i="0">
                <a:solidFill>
                  <a:srgbClr val="808080"/>
                </a:solidFill>
              </a:rPr>
              <a:t>      – </a:t>
            </a:r>
            <a:r>
              <a:rPr sz="1100" b="0" i="0">
                <a:solidFill>
                  <a:srgbClr val="1A1A1A"/>
                </a:solidFill>
              </a:rPr>
              <a:t>エンゲージメントスコアリング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112" y="73152"/>
            <a:ext cx="2011680" cy="62570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73952"/>
            <a:ext cx="12188952" cy="15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120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 i="0">
                <a:solidFill>
                  <a:srgbClr val="808080"/>
                </a:solidFill>
              </a:rPr>
              <a:t>Confidential All Rights Reserved SALESCORE Inc.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40312" y="651205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08080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"/>
            <a:ext cx="94914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i="0">
                <a:solidFill>
                  <a:srgbClr val="55657A"/>
                </a:solidFill>
              </a:rPr>
              <a:t>3.2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46888"/>
            <a:ext cx="9491472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>
                <a:solidFill>
                  <a:srgbClr val="1A1A1A"/>
                </a:solidFill>
              </a:rPr>
              <a:t>施策ロードマップ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58952"/>
            <a:ext cx="12188952" cy="228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23544"/>
            <a:ext cx="114117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1A1A1A"/>
                </a:solidFill>
              </a:rPr>
              <a:t>四半期単位で施策を段階的に展開します。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68704"/>
            <a:ext cx="11411712" cy="127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70304"/>
            <a:ext cx="11411712" cy="2279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</a:rPr>
              <a:t>**Q1〜Q2フェーズ（基盤整備）**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CRMデータ整備・統合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SDRチーム採用・研修（目標5名）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000" b="0" i="0">
                <a:solidFill>
                  <a:srgbClr val="808080"/>
                </a:solidFill>
              </a:rPr>
              <a:t>      – </a:t>
            </a:r>
            <a:r>
              <a:rPr sz="1100" b="0" i="0">
                <a:solidFill>
                  <a:srgbClr val="1A1A1A"/>
                </a:solidFill>
              </a:rPr>
              <a:t>採用完了: 3名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000" b="0" i="0">
                <a:solidFill>
                  <a:srgbClr val="808080"/>
                </a:solidFill>
              </a:rPr>
              <a:t>      – </a:t>
            </a:r>
            <a:r>
              <a:rPr sz="1100" b="0" i="0">
                <a:solidFill>
                  <a:srgbClr val="1A1A1A"/>
                </a:solidFill>
              </a:rPr>
              <a:t>研修中: 2名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001008"/>
            <a:ext cx="11411712" cy="127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4102608"/>
            <a:ext cx="11411712" cy="2279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</a:rPr>
              <a:t>**Q3〜Q4フェーズ（拡大展開）**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パートナーチャネル本格稼働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自動化ツール導入（HubSpot連携）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000" b="0" i="0">
                <a:solidFill>
                  <a:srgbClr val="808080"/>
                </a:solidFill>
              </a:rPr>
              <a:t>      – </a:t>
            </a:r>
            <a:r>
              <a:rPr sz="1100" b="0" i="0">
                <a:solidFill>
                  <a:srgbClr val="1A1A1A"/>
                </a:solidFill>
              </a:rPr>
              <a:t>自動化対象タスク: 約40%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000" b="0" i="0">
                <a:solidFill>
                  <a:srgbClr val="808080"/>
                </a:solidFill>
              </a:rPr>
              <a:t>      – </a:t>
            </a:r>
            <a:r>
              <a:rPr sz="1100" b="0" i="0">
                <a:solidFill>
                  <a:srgbClr val="1A1A1A"/>
                </a:solidFill>
              </a:rPr>
              <a:t>工数削減見込み: 月間200時間</a:t>
            </a:r>
          </a:p>
        </p:txBody>
      </p:sp>
      <p:pic>
        <p:nvPicPr>
          <p:cNvPr id="11" name="Picture 1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112" y="73152"/>
            <a:ext cx="2011680" cy="62570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0" y="6473952"/>
            <a:ext cx="12188952" cy="15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5120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 i="0">
                <a:solidFill>
                  <a:srgbClr val="808080"/>
                </a:solidFill>
              </a:rPr>
              <a:t>Confidential All Rights Reserved SALESCORE Inc.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40312" y="651205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08080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"/>
            <a:ext cx="94914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i="0">
                <a:solidFill>
                  <a:srgbClr val="55657A"/>
                </a:solidFill>
              </a:rPr>
              <a:t>3.3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46888"/>
            <a:ext cx="9491472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>
                <a:solidFill>
                  <a:srgbClr val="1A1A1A"/>
                </a:solidFill>
              </a:rPr>
              <a:t>チーム体制と役割分担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58952"/>
            <a:ext cx="12188952" cy="228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23544"/>
            <a:ext cx="114117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1A1A1A"/>
                </a:solidFill>
              </a:rPr>
              <a:t>各機能を担うチームの責任範囲を明確化します。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17904"/>
            <a:ext cx="55458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i="0">
                <a:solidFill>
                  <a:srgbClr val="1D3461"/>
                </a:solidFill>
              </a:rPr>
              <a:t>マーケティング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517904"/>
            <a:ext cx="55458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i="0">
                <a:solidFill>
                  <a:srgbClr val="1D3461"/>
                </a:solidFill>
              </a:rPr>
              <a:t>セールス &amp; CS</a:t>
            </a:r>
          </a:p>
        </p:txBody>
      </p:sp>
      <p:sp>
        <p:nvSpPr>
          <p:cNvPr id="9" name="Rectangle 8"/>
          <p:cNvSpPr/>
          <p:nvPr/>
        </p:nvSpPr>
        <p:spPr>
          <a:xfrm>
            <a:off x="6156706" y="1517904"/>
            <a:ext cx="12700" cy="486460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865376"/>
            <a:ext cx="5545836" cy="4517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300" b="1" i="0">
                <a:solidFill>
                  <a:srgbClr val="1B4FA8"/>
                </a:solidFill>
              </a:rPr>
              <a:t>1. </a:t>
            </a:r>
            <a:r>
              <a:rPr sz="1300" b="0" i="0">
                <a:solidFill>
                  <a:srgbClr val="1A1A1A"/>
                </a:solidFill>
              </a:rPr>
              <a:t>コンテンツ戦略立案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300" b="1" i="0">
                <a:solidFill>
                  <a:srgbClr val="1B4FA8"/>
                </a:solidFill>
              </a:rPr>
              <a:t>2. </a:t>
            </a:r>
            <a:r>
              <a:rPr sz="1300" b="0" i="0">
                <a:solidFill>
                  <a:srgbClr val="1A1A1A"/>
                </a:solidFill>
              </a:rPr>
              <a:t>リード獲得キャンペーン運営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300" b="1" i="0">
                <a:solidFill>
                  <a:srgbClr val="1B4FA8"/>
                </a:solidFill>
              </a:rPr>
              <a:t>3. </a:t>
            </a:r>
            <a:r>
              <a:rPr sz="1300" b="0" i="0">
                <a:solidFill>
                  <a:srgbClr val="1A1A1A"/>
                </a:solidFill>
              </a:rPr>
              <a:t>ブランド認知度向上施策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300" b="1" i="0">
                <a:solidFill>
                  <a:srgbClr val="1B4FA8"/>
                </a:solidFill>
              </a:rPr>
              <a:t>4. </a:t>
            </a:r>
            <a:r>
              <a:rPr sz="1300" b="0" i="0">
                <a:solidFill>
                  <a:srgbClr val="1A1A1A"/>
                </a:solidFill>
              </a:rPr>
              <a:t>SEO・SEM最適化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3076" y="1865376"/>
            <a:ext cx="5545836" cy="4517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300" b="1" i="0">
                <a:solidFill>
                  <a:srgbClr val="1B4FA8"/>
                </a:solidFill>
              </a:rPr>
              <a:t>1. </a:t>
            </a:r>
            <a:r>
              <a:rPr sz="1300" b="0" i="0">
                <a:solidFill>
                  <a:srgbClr val="1A1A1A"/>
                </a:solidFill>
              </a:rPr>
              <a:t>インバウンドリード対応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300" b="1" i="0">
                <a:solidFill>
                  <a:srgbClr val="1B4FA8"/>
                </a:solidFill>
              </a:rPr>
              <a:t>2. </a:t>
            </a:r>
            <a:r>
              <a:rPr sz="1300" b="0" i="0">
                <a:solidFill>
                  <a:srgbClr val="1A1A1A"/>
                </a:solidFill>
              </a:rPr>
              <a:t>エンタープライズ開拓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300" b="1" i="0">
                <a:solidFill>
                  <a:srgbClr val="1B4FA8"/>
                </a:solidFill>
              </a:rPr>
              <a:t>3. </a:t>
            </a:r>
            <a:r>
              <a:rPr sz="1300" b="0" i="0">
                <a:solidFill>
                  <a:srgbClr val="1A1A1A"/>
                </a:solidFill>
              </a:rPr>
              <a:t>オンボーディング設計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300" b="1" i="0">
                <a:solidFill>
                  <a:srgbClr val="1B4FA8"/>
                </a:solidFill>
              </a:rPr>
              <a:t>4. </a:t>
            </a:r>
            <a:r>
              <a:rPr sz="1300" b="0" i="0">
                <a:solidFill>
                  <a:srgbClr val="1A1A1A"/>
                </a:solidFill>
              </a:rPr>
              <a:t>チャーン防止フォロー</a:t>
            </a:r>
          </a:p>
        </p:txBody>
      </p:sp>
      <p:pic>
        <p:nvPicPr>
          <p:cNvPr id="12" name="Picture 1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112" y="73152"/>
            <a:ext cx="2011680" cy="62570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0" y="6473952"/>
            <a:ext cx="12188952" cy="15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5120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 i="0">
                <a:solidFill>
                  <a:srgbClr val="808080"/>
                </a:solidFill>
              </a:rPr>
              <a:t>Confidential All Rights Reserved SALESCORE Inc.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40312" y="651205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08080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514600"/>
            <a:ext cx="99943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FFFFFF"/>
                </a:solidFill>
              </a:rPr>
              <a:t>4. 財務予測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3657600"/>
            <a:ext cx="2286000" cy="38100"/>
          </a:xfrm>
          <a:prstGeom prst="rect">
            <a:avLst/>
          </a:prstGeom>
          <a:solidFill>
            <a:srgbClr val="1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112" y="73152"/>
            <a:ext cx="2011680" cy="62570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73952"/>
            <a:ext cx="12188952" cy="15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120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 i="0">
                <a:solidFill>
                  <a:srgbClr val="808080"/>
                </a:solidFill>
              </a:rPr>
              <a:t>Confidential All Rights Reserved SALESCORE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40312" y="651205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08080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"/>
            <a:ext cx="94914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i="0">
                <a:solidFill>
                  <a:srgbClr val="55657A"/>
                </a:solidFill>
              </a:rPr>
              <a:t>4.1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46888"/>
            <a:ext cx="9491472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>
                <a:solidFill>
                  <a:srgbClr val="1A1A1A"/>
                </a:solidFill>
              </a:rPr>
              <a:t>年間収益予測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58952"/>
            <a:ext cx="12188952" cy="228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23544"/>
            <a:ext cx="114117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1A1A1A"/>
                </a:solidFill>
              </a:rPr>
              <a:t>保守・基本・強気の3シナリオで収益レンジを提示します。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17904"/>
          <a:ext cx="11411712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2928"/>
                <a:gridCol w="2852928"/>
                <a:gridCol w="2852928"/>
                <a:gridCol w="2852928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</a:rPr>
                        <a:t>シナリオ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</a:rPr>
                        <a:t>年間MRR（万円）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</a:rPr>
                        <a:t>成長率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</a:rPr>
                        <a:t>必要投資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</a:rPr>
                        <a:t>保守的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</a:rPr>
                        <a:t>28,000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</a:rPr>
                        <a:t>+85%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</a:rPr>
                        <a:t>2,400万円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</a:rPr>
                        <a:t>基本計画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</a:rPr>
                        <a:t>36,000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</a:rPr>
                        <a:t>+110%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</a:rPr>
                        <a:t>3,200万円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</a:rPr>
                        <a:t>強気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</a:rPr>
                        <a:t>48,000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</a:rPr>
                        <a:t>+145%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</a:rPr>
                        <a:t>4,500万円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112" y="73152"/>
            <a:ext cx="2011680" cy="62570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73952"/>
            <a:ext cx="12188952" cy="15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120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 i="0">
                <a:solidFill>
                  <a:srgbClr val="808080"/>
                </a:solidFill>
              </a:rPr>
              <a:t>Confidential All Rights Reserved SALESCORE Inc.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40312" y="651205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08080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"/>
            <a:ext cx="94914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i="0">
                <a:solidFill>
                  <a:srgbClr val="55657A"/>
                </a:solidFill>
              </a:rPr>
              <a:t>4.2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46888"/>
            <a:ext cx="9491472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>
                <a:solidFill>
                  <a:srgbClr val="1A1A1A"/>
                </a:solidFill>
              </a:rPr>
              <a:t>投資対効果（ROI）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58952"/>
            <a:ext cx="12188952" cy="228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23544"/>
            <a:ext cx="114117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1A1A1A"/>
                </a:solidFill>
              </a:rPr>
              <a:t>施策ごとのROIを試算し、優先投資領域を特定します。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17904"/>
            <a:ext cx="11411712" cy="4864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インバウンドマーケティング: ROI **320%**（12ヶ月回収）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000" b="0" i="0">
                <a:solidFill>
                  <a:srgbClr val="808080"/>
                </a:solidFill>
              </a:rPr>
              <a:t>      – </a:t>
            </a:r>
            <a:r>
              <a:rPr sz="1100" b="0" i="0">
                <a:solidFill>
                  <a:srgbClr val="1A1A1A"/>
                </a:solidFill>
              </a:rPr>
              <a:t>コンテンツ制作費: 月200万円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000" b="0" i="0">
                <a:solidFill>
                  <a:srgbClr val="808080"/>
                </a:solidFill>
              </a:rPr>
              <a:t>      – </a:t>
            </a:r>
            <a:r>
              <a:rPr sz="1100" b="0" i="0">
                <a:solidFill>
                  <a:srgbClr val="1A1A1A"/>
                </a:solidFill>
              </a:rPr>
              <a:t>見込みリード: 月150件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SDR体制構築: ROI **180%**（18ヶ月回収）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000" b="0" i="0">
                <a:solidFill>
                  <a:srgbClr val="808080"/>
                </a:solidFill>
              </a:rPr>
              <a:t>      – </a:t>
            </a:r>
            <a:r>
              <a:rPr sz="1100" b="0" i="0">
                <a:solidFill>
                  <a:srgbClr val="1A1A1A"/>
                </a:solidFill>
              </a:rPr>
              <a:t>採用・研修コスト: 1,200万円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000" b="0" i="0">
                <a:solidFill>
                  <a:srgbClr val="808080"/>
                </a:solidFill>
              </a:rPr>
              <a:t>      – </a:t>
            </a:r>
            <a:r>
              <a:rPr sz="1100" b="0" i="0">
                <a:solidFill>
                  <a:srgbClr val="1A1A1A"/>
                </a:solidFill>
              </a:rPr>
              <a:t>期待新規契約: 年60件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パートナーチャネル: ROI **510%**（6ヶ月回収）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000" b="0" i="0">
                <a:solidFill>
                  <a:srgbClr val="808080"/>
                </a:solidFill>
              </a:rPr>
              <a:t>      – </a:t>
            </a:r>
            <a:r>
              <a:rPr sz="1100" b="0" i="0">
                <a:solidFill>
                  <a:srgbClr val="1A1A1A"/>
                </a:solidFill>
              </a:rPr>
              <a:t>初期投資: 300万円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000" b="0" i="0">
                <a:solidFill>
                  <a:srgbClr val="808080"/>
                </a:solidFill>
              </a:rPr>
              <a:t>      – </a:t>
            </a:r>
            <a:r>
              <a:rPr sz="1100" b="0" i="0">
                <a:solidFill>
                  <a:srgbClr val="1A1A1A"/>
                </a:solidFill>
              </a:rPr>
              <a:t>期待紹介案件: 月20件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112" y="73152"/>
            <a:ext cx="2011680" cy="62570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73952"/>
            <a:ext cx="12188952" cy="15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120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 i="0">
                <a:solidFill>
                  <a:srgbClr val="808080"/>
                </a:solidFill>
              </a:rPr>
              <a:t>Confidential All Rights Reserved SALESCORE Inc.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40312" y="651205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08080"/>
                </a:solidFill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514600"/>
            <a:ext cx="99943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FFFFFF"/>
                </a:solidFill>
              </a:rPr>
              <a:t>5. 次のステップ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3657600"/>
            <a:ext cx="2286000" cy="38100"/>
          </a:xfrm>
          <a:prstGeom prst="rect">
            <a:avLst/>
          </a:prstGeom>
          <a:solidFill>
            <a:srgbClr val="1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112" y="73152"/>
            <a:ext cx="2011680" cy="62570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73952"/>
            <a:ext cx="12188952" cy="15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120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 i="0">
                <a:solidFill>
                  <a:srgbClr val="808080"/>
                </a:solidFill>
              </a:rPr>
              <a:t>Confidential All Rights Reserved SALESCORE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40312" y="651205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08080"/>
                </a:solidFill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"/>
            <a:ext cx="94914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i="0">
                <a:solidFill>
                  <a:srgbClr val="55657A"/>
                </a:solidFill>
              </a:rPr>
              <a:t>5.1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46888"/>
            <a:ext cx="9491472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>
                <a:solidFill>
                  <a:srgbClr val="1A1A1A"/>
                </a:solidFill>
              </a:rPr>
              <a:t>アクションアイテム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58952"/>
            <a:ext cx="12188952" cy="228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23544"/>
            <a:ext cx="114117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1A1A1A"/>
                </a:solidFill>
              </a:rPr>
              <a:t>各部門が優先的に取り組むべき事項を整理しました。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17904"/>
            <a:ext cx="11411712" cy="4864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300" b="1" i="0">
                <a:solidFill>
                  <a:srgbClr val="1B4FA8"/>
                </a:solidFill>
              </a:rPr>
              <a:t>1. </a:t>
            </a:r>
            <a:r>
              <a:rPr sz="1300" b="0" i="0">
                <a:solidFill>
                  <a:srgbClr val="1A1A1A"/>
                </a:solidFill>
              </a:rPr>
              <a:t>経営承認: 戦略計画・予算の最終承認（期限: 4月末）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300" b="1" i="0">
                <a:solidFill>
                  <a:srgbClr val="1B4FA8"/>
                </a:solidFill>
              </a:rPr>
              <a:t>2. </a:t>
            </a:r>
            <a:r>
              <a:rPr sz="1300" b="0" i="0">
                <a:solidFill>
                  <a:srgbClr val="1A1A1A"/>
                </a:solidFill>
              </a:rPr>
              <a:t>採用推進: SDR・CS人材の採用加速（目標: Q2末までに充足）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300" b="1" i="0">
                <a:solidFill>
                  <a:srgbClr val="1B4FA8"/>
                </a:solidFill>
              </a:rPr>
              <a:t>3. </a:t>
            </a:r>
            <a:r>
              <a:rPr sz="1300" b="0" i="0">
                <a:solidFill>
                  <a:srgbClr val="1A1A1A"/>
                </a:solidFill>
              </a:rPr>
              <a:t>ツール導入: HubSpot・Salesforce連携設定完了（期限: 5月中旬）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300" b="1" i="0">
                <a:solidFill>
                  <a:srgbClr val="1B4FA8"/>
                </a:solidFill>
              </a:rPr>
              <a:t>4. </a:t>
            </a:r>
            <a:r>
              <a:rPr sz="1300" b="0" i="0">
                <a:solidFill>
                  <a:srgbClr val="1A1A1A"/>
                </a:solidFill>
              </a:rPr>
              <a:t>KPIモニタリング: 週次ダッシュボード運用開始（期限: 4月第1週）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112" y="73152"/>
            <a:ext cx="2011680" cy="62570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73952"/>
            <a:ext cx="12188952" cy="15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120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 i="0">
                <a:solidFill>
                  <a:srgbClr val="808080"/>
                </a:solidFill>
              </a:rPr>
              <a:t>Confidential All Rights Reserved SALESCORE Inc.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40312" y="651205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08080"/>
                </a:solidFill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008"/>
            <a:ext cx="94914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i="0">
                <a:solidFill>
                  <a:srgbClr val="55657A"/>
                </a:solidFill>
              </a:rPr>
              <a:t>5.2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46888"/>
            <a:ext cx="9491472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>
                <a:solidFill>
                  <a:srgbClr val="1A1A1A"/>
                </a:solidFill>
              </a:rPr>
              <a:t>まとめ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58952"/>
            <a:ext cx="12188952" cy="228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23544"/>
            <a:ext cx="114117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1A1A1A"/>
                </a:solidFill>
              </a:rPr>
              <a:t>3つの戦略柱を軸に、データドリブンな意思決定で成長を加速します。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17904"/>
            <a:ext cx="55458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i="0">
                <a:solidFill>
                  <a:srgbClr val="1D3461"/>
                </a:solidFill>
              </a:rPr>
              <a:t>成功のための条件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517904"/>
            <a:ext cx="55458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i="0">
                <a:solidFill>
                  <a:srgbClr val="1D3461"/>
                </a:solidFill>
              </a:rPr>
              <a:t>期待される成果</a:t>
            </a:r>
          </a:p>
        </p:txBody>
      </p:sp>
      <p:sp>
        <p:nvSpPr>
          <p:cNvPr id="9" name="Rectangle 8"/>
          <p:cNvSpPr/>
          <p:nvPr/>
        </p:nvSpPr>
        <p:spPr>
          <a:xfrm>
            <a:off x="6156706" y="1517904"/>
            <a:ext cx="12700" cy="4864608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865376"/>
            <a:ext cx="5545836" cy="2182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全社的な顧客中心主義の徹底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リアルタイムデータ活用基盤の整備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部門横断コラボレーションの強化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098544"/>
            <a:ext cx="5545836" cy="127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4200144"/>
            <a:ext cx="5545836" cy="2182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月次レビュー会議の定例化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OKRによる目標管理の導入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3076" y="1865376"/>
            <a:ext cx="5545836" cy="2182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2026年末: MRR 3億6千万円達成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チャーンレート: 1.0%以下へ改善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NPS: 60以上を維持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3076" y="4098544"/>
            <a:ext cx="5545836" cy="127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3076" y="4200144"/>
            <a:ext cx="5545836" cy="2182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エンタープライズ比率: 50%へ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パートナー経由比率: 30%へ</a:t>
            </a:r>
          </a:p>
        </p:txBody>
      </p:sp>
      <p:pic>
        <p:nvPicPr>
          <p:cNvPr id="16" name="Picture 1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112" y="73152"/>
            <a:ext cx="2011680" cy="62570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473952"/>
            <a:ext cx="12188952" cy="15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5120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 i="0">
                <a:solidFill>
                  <a:srgbClr val="808080"/>
                </a:solidFill>
              </a:rPr>
              <a:t>Confidential All Rights Reserved SALESCORE Inc.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40312" y="6512052"/>
            <a:ext cx="411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08080"/>
                </a:solidFill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