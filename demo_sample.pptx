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977639"/>
          </a:xfrm>
          <a:prstGeom prst="rect">
            <a:avLst/>
          </a:prstGeom>
          <a:solidFill>
            <a:srgbClr val="1D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88952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39539"/>
            <a:ext cx="12188952" cy="76200"/>
          </a:xfrm>
          <a:prstGeom prst="rect">
            <a:avLst/>
          </a:prstGeom>
          <a:solidFill>
            <a:srgbClr val="1B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13739"/>
            <a:ext cx="8714232" cy="2187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Meiryo UI"/>
              </a:rPr>
              <a:t>ビジネス戦略レポート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01441"/>
            <a:ext cx="8714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CD8F0"/>
                </a:solidFill>
                <a:latin typeface="Meiryo UI"/>
              </a:rPr>
              <a:t>SALESCOREセールス戦略部門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46817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14600"/>
            <a:ext cx="99943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Meiryo UI"/>
              </a:rPr>
              <a:t>1. エグゼクティブサマリー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657600"/>
            <a:ext cx="2286000" cy="38100"/>
          </a:xfrm>
          <a:prstGeom prst="rect">
            <a:avLst/>
          </a:prstGeom>
          <a:solidFill>
            <a:srgbClr val="1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4681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8446" y="6400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888888"/>
                </a:solidFill>
                <a:latin typeface="Meiryo UI"/>
              </a:rPr>
              <a:t>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8446" y="252374"/>
            <a:ext cx="868680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Meiryo UI"/>
              </a:rPr>
              <a:t>概要・主要メッセージ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504" y="630021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504" y="640080"/>
            <a:ext cx="10515600" cy="6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Meiryo UI"/>
              </a:rPr>
              <a:t>本資料は2026年度の市場動向分析と戦略提言をまとめたものです。各部門のデータを統合し、成長機会を明確化します。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504" y="1280160"/>
            <a:ext cx="10515600" cy="4984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売上目標: 前年比130%達成を目指す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重点市場: エンタープライズ・中堅企業セグメント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主要施策: 3つの柱（獲得・育成・維持）に集約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4681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8446" y="6400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888888"/>
                </a:solidFill>
                <a:latin typeface="Meiryo UI"/>
              </a:rPr>
              <a:t>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8446" y="252374"/>
            <a:ext cx="868680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Meiryo UI"/>
              </a:rPr>
              <a:t>KPI サマリー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504" y="630021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504" y="640080"/>
            <a:ext cx="10515600" cy="6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Meiryo UI"/>
              </a:rPr>
              <a:t>四半期ごとの主要指標を一覧で確認できます。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8504" y="128016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eiryo UI"/>
                        </a:rPr>
                        <a:t>指標</a:t>
                      </a:r>
                    </a:p>
                  </a:txBody>
                  <a:tcPr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eiryo UI"/>
                        </a:rPr>
                        <a:t>Q1実績</a:t>
                      </a:r>
                    </a:p>
                  </a:txBody>
                  <a:tcPr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eiryo UI"/>
                        </a:rPr>
                        <a:t>Q2実績</a:t>
                      </a:r>
                    </a:p>
                  </a:txBody>
                  <a:tcPr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eiryo UI"/>
                        </a:rPr>
                        <a:t>Q3実績</a:t>
                      </a:r>
                    </a:p>
                  </a:txBody>
                  <a:tcPr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eiryo UI"/>
                        </a:rPr>
                        <a:t>Q4目標</a:t>
                      </a:r>
                    </a:p>
                  </a:txBody>
                  <a:tcPr>
                    <a:solidFill>
                      <a:srgbClr val="1D34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新規契約数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42件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58件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71件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90件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MRR（万円）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1,580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2,040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2,700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チャーンレート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2.1%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1.8%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1.5%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1.2%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NPS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4681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14600"/>
            <a:ext cx="99943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Meiryo UI"/>
              </a:rPr>
              <a:t>2. 市場分析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657600"/>
            <a:ext cx="2286000" cy="38100"/>
          </a:xfrm>
          <a:prstGeom prst="rect">
            <a:avLst/>
          </a:prstGeom>
          <a:solidFill>
            <a:srgbClr val="1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4681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8446" y="6400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888888"/>
                </a:solidFill>
                <a:latin typeface="Meiryo UI"/>
              </a:rPr>
              <a:t>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8446" y="252374"/>
            <a:ext cx="868680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Meiryo UI"/>
              </a:rPr>
              <a:t>市場環境と競合状況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504" y="630021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504" y="640080"/>
            <a:ext cx="10515600" cy="6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Meiryo UI"/>
              </a:rPr>
              <a:t>SaaS市場は急速に拡大しており、差別化が競争優位の鍵です。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504" y="1280160"/>
            <a:ext cx="50977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D3461"/>
                </a:solidFill>
                <a:latin typeface="Meiryo UI"/>
              </a:rPr>
              <a:t>機会（Opportunities）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6324" y="1280160"/>
            <a:ext cx="50977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D3461"/>
                </a:solidFill>
                <a:latin typeface="Meiryo UI"/>
              </a:rPr>
              <a:t>脅威（Threats）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9954" y="1280160"/>
            <a:ext cx="12700" cy="4984394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504" y="1627632"/>
            <a:ext cx="5097780" cy="4636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クラウド移行需要の増加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SMB市場の未開拓ポテンシャル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パートナーエコシステムの拡充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ISVパートナー: 15社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リセラー: 40社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6324" y="1627632"/>
            <a:ext cx="5097780" cy="4636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競合の価格競争激化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顧客の意思決定長期化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景気不透明感による予算削減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IT予算凍結企業: 約18%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延期案件: 前年比+22%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4681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8446" y="6400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888888"/>
                </a:solidFill>
                <a:latin typeface="Meiryo UI"/>
              </a:rPr>
              <a:t>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8446" y="252374"/>
            <a:ext cx="868680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Meiryo UI"/>
              </a:rPr>
              <a:t>顧客セグメント別分析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504" y="630021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504" y="640080"/>
            <a:ext cx="10515600" cy="6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Meiryo UI"/>
              </a:rPr>
              <a:t>ターゲットセグメントごとの攻略優先度を整理しました。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8504" y="128016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eiryo UI"/>
                        </a:rPr>
                        <a:t>セグメント</a:t>
                      </a:r>
                    </a:p>
                  </a:txBody>
                  <a:tcPr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eiryo UI"/>
                        </a:rPr>
                        <a:t>社員数</a:t>
                      </a:r>
                    </a:p>
                  </a:txBody>
                  <a:tcPr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eiryo UI"/>
                        </a:rPr>
                        <a:t>平均契約額</a:t>
                      </a:r>
                    </a:p>
                  </a:txBody>
                  <a:tcPr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eiryo UI"/>
                        </a:rPr>
                        <a:t>勝率</a:t>
                      </a:r>
                    </a:p>
                  </a:txBody>
                  <a:tcPr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eiryo UI"/>
                        </a:rPr>
                        <a:t>優先度</a:t>
                      </a:r>
                    </a:p>
                  </a:txBody>
                  <a:tcPr>
                    <a:solidFill>
                      <a:srgbClr val="1D34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エンタープライズ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1,000名以上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480万円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28%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★★★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中堅企業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300〜999名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180万円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SMB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50〜299名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60万円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55%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★★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スタートアップ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〜49名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24万円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4681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14600"/>
            <a:ext cx="99943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Meiryo UI"/>
              </a:rPr>
              <a:t>3. 戦略・施策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657600"/>
            <a:ext cx="2286000" cy="38100"/>
          </a:xfrm>
          <a:prstGeom prst="rect">
            <a:avLst/>
          </a:prstGeom>
          <a:solidFill>
            <a:srgbClr val="1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4681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8446" y="6400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888888"/>
                </a:solidFill>
                <a:latin typeface="Meiryo UI"/>
              </a:rPr>
              <a:t>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8446" y="252374"/>
            <a:ext cx="868680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Meiryo UI"/>
              </a:rPr>
              <a:t>3つの戦略柱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504" y="630021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504" y="640080"/>
            <a:ext cx="10515600" cy="6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Meiryo UI"/>
              </a:rPr>
              <a:t>獲得・育成・維持の3軸でリソースを最適配分します。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504" y="1280160"/>
            <a:ext cx="10515600" cy="4984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1.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新規顧客獲得（Acquire）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インバウンドマーケティングの強化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アウトバウンドSDR体制の構築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2.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顧客育成（Expand）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カスタマーサクセスチームの増強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アップセル・クロスセルプログラム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3.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顧客維持（Retain）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チャーン予測モデルの導入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エンゲージメントスコアリング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4681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8446" y="6400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888888"/>
                </a:solidFill>
                <a:latin typeface="Meiryo UI"/>
              </a:rPr>
              <a:t>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8446" y="252374"/>
            <a:ext cx="868680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Meiryo UI"/>
              </a:rPr>
              <a:t>施策ロードマップ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504" y="630021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504" y="640080"/>
            <a:ext cx="10515600" cy="6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Meiryo UI"/>
              </a:rPr>
              <a:t>四半期単位で施策を段階的に展開します。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504" y="1330960"/>
            <a:ext cx="105156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504" y="1432560"/>
            <a:ext cx="10515600" cy="2339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Meiryo UI"/>
              </a:rPr>
              <a:t>**Q1〜Q2フェーズ（基盤整備）**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CRMデータ整備・統合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SDRチーム採用・研修（目標5名）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採用完了: 3名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研修中: 2名</a:t>
            </a:r>
          </a:p>
        </p:txBody>
      </p:sp>
      <p:sp>
        <p:nvSpPr>
          <p:cNvPr id="9" name="Rectangle 8"/>
          <p:cNvSpPr/>
          <p:nvPr/>
        </p:nvSpPr>
        <p:spPr>
          <a:xfrm>
            <a:off x="838504" y="3823157"/>
            <a:ext cx="105156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504" y="3924757"/>
            <a:ext cx="10515600" cy="2339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Meiryo UI"/>
              </a:rPr>
              <a:t>**Q3〜Q4フェーズ（拡大展開）**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パートナーチャネル本格稼働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自動化ツール導入（HubSpot連携）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自動化対象タスク: 約40%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工数削減見込み: 月間200時間</a:t>
            </a:r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46817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8446" y="6400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888888"/>
                </a:solidFill>
                <a:latin typeface="Meiryo UI"/>
              </a:rPr>
              <a:t>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8446" y="252374"/>
            <a:ext cx="868680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Meiryo UI"/>
              </a:rPr>
              <a:t>チーム体制と役割分担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504" y="630021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504" y="640080"/>
            <a:ext cx="10515600" cy="6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Meiryo UI"/>
              </a:rPr>
              <a:t>各機能を担うチームの責任範囲を明確化します。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504" y="1280160"/>
            <a:ext cx="50977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D3461"/>
                </a:solidFill>
                <a:latin typeface="Meiryo UI"/>
              </a:rPr>
              <a:t>マーケティング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6324" y="1280160"/>
            <a:ext cx="50977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D3461"/>
                </a:solidFill>
                <a:latin typeface="Meiryo UI"/>
              </a:rPr>
              <a:t>セールス &amp; CS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9954" y="1280160"/>
            <a:ext cx="12700" cy="4984394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504" y="1627632"/>
            <a:ext cx="5097780" cy="4636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1.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コンテンツ戦略立案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2.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リード獲得キャンペーン運営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3.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ブランド認知度向上施策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4.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SEO・SEM最適化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6324" y="1627632"/>
            <a:ext cx="5097780" cy="4636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1.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インバウンドリード対応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2.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エンタープライズ開拓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3.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オンボーディング設計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4.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チャーン防止フォロー</a:t>
            </a:r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4681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14600"/>
            <a:ext cx="99943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Meiryo UI"/>
              </a:rPr>
              <a:t>4. 財務予測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657600"/>
            <a:ext cx="2286000" cy="38100"/>
          </a:xfrm>
          <a:prstGeom prst="rect">
            <a:avLst/>
          </a:prstGeom>
          <a:solidFill>
            <a:srgbClr val="1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4681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8446" y="6400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888888"/>
                </a:solidFill>
                <a:latin typeface="Meiryo UI"/>
              </a:rPr>
              <a:t>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8446" y="252374"/>
            <a:ext cx="868680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Meiryo UI"/>
              </a:rPr>
              <a:t>年間収益予測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504" y="630021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504" y="640080"/>
            <a:ext cx="10515600" cy="6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Meiryo UI"/>
              </a:rPr>
              <a:t>保守・基本・強気の3シナリオで収益レンジを提示します。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8504" y="1280160"/>
          <a:ext cx="1051560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eiryo UI"/>
                        </a:rPr>
                        <a:t>シナリオ</a:t>
                      </a:r>
                    </a:p>
                  </a:txBody>
                  <a:tcPr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eiryo UI"/>
                        </a:rPr>
                        <a:t>年間MRR（万円）</a:t>
                      </a:r>
                    </a:p>
                  </a:txBody>
                  <a:tcPr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eiryo UI"/>
                        </a:rPr>
                        <a:t>成長率</a:t>
                      </a:r>
                    </a:p>
                  </a:txBody>
                  <a:tcPr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eiryo UI"/>
                        </a:rPr>
                        <a:t>必要投資</a:t>
                      </a:r>
                    </a:p>
                  </a:txBody>
                  <a:tcPr>
                    <a:solidFill>
                      <a:srgbClr val="1D34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保守的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28,000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+85%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2,400万円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基本計画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36,000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+110%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3,200万円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強気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48,000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+145%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Meiryo UI"/>
                        </a:rPr>
                        <a:t>4,500万円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4681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8446" y="6400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888888"/>
                </a:solidFill>
                <a:latin typeface="Meiryo UI"/>
              </a:rPr>
              <a:t>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8446" y="252374"/>
            <a:ext cx="868680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Meiryo UI"/>
              </a:rPr>
              <a:t>投資対効果（ROI）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504" y="630021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504" y="640080"/>
            <a:ext cx="10515600" cy="6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Meiryo UI"/>
              </a:rPr>
              <a:t>施策ごとのROIを試算し、優先投資領域を特定します。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504" y="1280160"/>
            <a:ext cx="10515600" cy="4984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インバウンドマーケティング: ROI **320%**（12ヶ月回収）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コンテンツ制作費: 月200万円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見込みリード: 月150件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SDR体制構築: ROI **180%**（18ヶ月回収）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採用・研修コスト: 1,200万円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期待新規契約: 年60件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パートナーチャネル: ROI **510%**（6ヶ月回収）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初期投資: 300万円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400" b="0" i="0">
                <a:solidFill>
                  <a:srgbClr val="888888"/>
                </a:solidFill>
                <a:latin typeface="Meiryo UI"/>
              </a:rPr>
              <a:t>      – </a:t>
            </a:r>
            <a:r>
              <a:rPr sz="1400" b="0" i="0">
                <a:solidFill>
                  <a:srgbClr val="1A1A1A"/>
                </a:solidFill>
                <a:latin typeface="Meiryo UI"/>
              </a:rPr>
              <a:t>期待紹介案件: 月20件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4681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14600"/>
            <a:ext cx="99943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Meiryo UI"/>
              </a:rPr>
              <a:t>5. 次のステップ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657600"/>
            <a:ext cx="2286000" cy="38100"/>
          </a:xfrm>
          <a:prstGeom prst="rect">
            <a:avLst/>
          </a:prstGeom>
          <a:solidFill>
            <a:srgbClr val="1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4681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8446" y="6400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888888"/>
                </a:solidFill>
                <a:latin typeface="Meiryo UI"/>
              </a:rPr>
              <a:t>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8446" y="252374"/>
            <a:ext cx="868680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Meiryo UI"/>
              </a:rPr>
              <a:t>アクションアイテム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504" y="630021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504" y="640080"/>
            <a:ext cx="10515600" cy="6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Meiryo UI"/>
              </a:rPr>
              <a:t>各部門が優先的に取り組むべき事項を整理しました。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504" y="1280160"/>
            <a:ext cx="10515600" cy="4984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1.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経営承認: 戦略計画・予算の最終承認（期限: 4月末）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2.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採用推進: SDR・CS人材の採用加速（目標: Q2末までに充足）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3.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ツール導入: HubSpot・Salesforce連携設定完了（期限: 5月中旬）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066CD"/>
                </a:solidFill>
                <a:latin typeface="Meiryo UI"/>
              </a:rPr>
              <a:t>4.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KPIモニタリング: 週次ダッシュボード運用開始（期限: 4月第1週）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4681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8446" y="64008"/>
            <a:ext cx="8686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i="0">
                <a:solidFill>
                  <a:srgbClr val="888888"/>
                </a:solidFill>
                <a:latin typeface="Meiryo UI"/>
              </a:rPr>
              <a:t>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8446" y="252374"/>
            <a:ext cx="8686800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 i="0">
                <a:solidFill>
                  <a:srgbClr val="1A1A1A"/>
                </a:solidFill>
                <a:latin typeface="Meiryo UI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504" y="630021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504" y="640080"/>
            <a:ext cx="10515600" cy="6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Meiryo UI"/>
              </a:rPr>
              <a:t>3つの戦略柱を軸に、データドリブンな意思決定で成長を加速します。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504" y="1280160"/>
            <a:ext cx="50977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D3461"/>
                </a:solidFill>
                <a:latin typeface="Meiryo UI"/>
              </a:rPr>
              <a:t>成功のための条件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6324" y="1280160"/>
            <a:ext cx="50977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D3461"/>
                </a:solidFill>
                <a:latin typeface="Meiryo UI"/>
              </a:rPr>
              <a:t>期待される成果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9954" y="1280160"/>
            <a:ext cx="12700" cy="4984394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504" y="1627632"/>
            <a:ext cx="5097780" cy="2242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全社的な顧客中心主義の徹底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リアルタイムデータ活用基盤の整備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部門横断コラボレーションの強化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504" y="3920693"/>
            <a:ext cx="509778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" y="4022293"/>
            <a:ext cx="5097780" cy="2242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月次レビュー会議の定例化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OKRによる目標管理の導入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6324" y="1627632"/>
            <a:ext cx="5097780" cy="2242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2026年末: MRR 3億6千万円達成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チャーンレート: 1.0%以下へ改善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NPS: 60以上を維持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6324" y="3920693"/>
            <a:ext cx="509778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324" y="4022293"/>
            <a:ext cx="5097780" cy="2242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エンタープライズ比率: 50%へ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0066CD"/>
                </a:solidFill>
                <a:latin typeface="Meiryo UI"/>
              </a:rPr>
              <a:t>● </a:t>
            </a:r>
            <a:r>
              <a:rPr sz="1600" b="0" i="0">
                <a:solidFill>
                  <a:srgbClr val="1A1A1A"/>
                </a:solidFill>
                <a:latin typeface="Meiryo UI"/>
              </a:rPr>
              <a:t>パートナー経由比率: 30%へ</a:t>
            </a:r>
          </a:p>
        </p:txBody>
      </p:sp>
      <p:pic>
        <p:nvPicPr>
          <p:cNvPr id="16" name="Picture 1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83210"/>
            <a:ext cx="2016252" cy="46817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38504" y="6355994"/>
            <a:ext cx="105156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" y="640080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88888"/>
                </a:solidFill>
                <a:latin typeface="Meiryo UI"/>
              </a:rPr>
              <a:t>Confidential All Rights Reserved SALESCORE Co., Ltd.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  <a:latin typeface="Meiryo U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