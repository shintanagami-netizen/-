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ご状況について（成長戦略から目指される姿）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貴社の成長戦略は「No.1 Backoffice AI Company」の実現。「SaaS価値向上」「AIプロダクト」「M&amp;A」を3本柱とし、FY28で売上高900億円（現503億の約1.8倍）を目指す。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5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8504" y="1280160"/>
            <a:ext cx="3352800" cy="1016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304" y="1518920"/>
            <a:ext cx="457200" cy="457200"/>
          </a:xfrm>
          <a:prstGeom prst="ellipse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2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バックオフィスSaaSの価値向上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82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60超のプロダクトで会計・人事・法務を網羅。顧客基盤の拡大とARPA向上を推進。豊富な業務ロジックを強みに顧客基盤を拡大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99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9904" y="1280160"/>
            <a:ext cx="3352800" cy="101600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67704" y="1518920"/>
            <a:ext cx="457200" cy="457200"/>
          </a:xfrm>
          <a:prstGeom prst="ellipse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96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AIプロダクトの開発・提供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96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AIエージェント／AIネイティブプロダクト／AI×BPOサービスを展開。業務ロジックを活用し自律処理。デジタルツール→デジタルワーカー市場へTAM5倍拡大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3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304" y="1280160"/>
            <a:ext cx="3352800" cy="101600"/>
          </a:xfrm>
          <a:prstGeom prst="rect">
            <a:avLst/>
          </a:prstGeom>
          <a:solidFill>
            <a:srgbClr val="006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49104" y="1518920"/>
            <a:ext cx="457200" cy="457200"/>
          </a:xfrm>
          <a:prstGeom prst="ellipse">
            <a:avLst/>
          </a:prstGeom>
          <a:solidFill>
            <a:srgbClr val="006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M&amp;A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10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M&amp;A戦略の遂行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10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経営管理領域を全方位でカバーするためサービスを拡大。アウトルックコンサルティング社等グループジョイン。SaaS×Fintechの融合で顧客基盤を拡充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</a:rPr>
              <a:t>FY28 中長期財務ターゲット：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 売上高900億円以上 / EBITDA270億円以上 / 事業CF180億円以上　｜　TAMの5倍拡大：デジタルツール市場（2.8兆円）→ デジタルワーカー市場（14.1兆円）</a:t>
            </a:r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事前にお伺いした内容からの課題仮説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お電話でお伺いした事実から、貴社固有の課題仮説を整理しました。合っている・合っていないも含めて率直にお聞かせいただければと思います。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お伺いした事実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なぜ起きているか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課題の核心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受注率に個人間ばらつきがある（電話ヒアリングで確認）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60超プロダクトの最適組み合わせが個人の商品知識に依存。「課題パターン×プロダクト組み合わせ」の型が組織に存在しない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提案の型がない｜型なし＝商品知識の差＝受注率の差。競合との機能比較に陥ると価格勝負になる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中途採用を増やしているが1人あたり売上が低下している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会計×60超プロダクト×SaaS/Fintech/AI三層構造は他SaaSと比較にならない複雑さ。前職スキルがそのまま通用せず得意な1〜2商品に偏る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前職スキルが通用しない複雑さ｜採用数に比例して売上が伸びない構造的問題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Salesforce利用中・集計はExcel併用。「戦略と実行の断絶」セミナーに参加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フェーズ別受注率・リードソース別・担当者別の分析が不可。戦略は描けているが実行を支える可視化基盤がない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介入ポイントが見えない｜受注率低下の原因をデータで特定できず、どこに手を打つべきか判断できない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8504" y="5231282"/>
            <a:ext cx="3310128" cy="38404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" y="5231282"/>
            <a:ext cx="3200400" cy="38404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</a:rPr>
              <a:t>提案の型がない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8632" y="5231282"/>
            <a:ext cx="292608" cy="384048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41240" y="5231282"/>
            <a:ext cx="3310128" cy="38404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6104" y="5231282"/>
            <a:ext cx="3200400" cy="38404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</a:rPr>
              <a:t>前職スキルが通用しない複雑さ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1368" y="5231282"/>
            <a:ext cx="292608" cy="384048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3976" y="5231282"/>
            <a:ext cx="3310128" cy="38404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8840" y="5231282"/>
            <a:ext cx="3200400" cy="38404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</a:rPr>
              <a:t>介入ポイントが見えない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9144" y="5615330"/>
            <a:ext cx="274320" cy="256032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066CD"/>
                </a:solidFill>
                <a:latin typeface="Meiryo UI"/>
              </a:rPr>
              <a:t>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8504" y="5871362"/>
            <a:ext cx="10515600" cy="41148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1384" y="5871362"/>
            <a:ext cx="10149840" cy="4114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Meiryo UI"/>
              </a:rPr>
              <a:t>帰着点：</a:t>
            </a:r>
            <a:r>
              <a:rPr sz="1400" b="1" i="0">
                <a:solidFill>
                  <a:srgbClr val="FFFFFF"/>
                </a:solidFill>
                <a:latin typeface="Meiryo UI"/>
              </a:rPr>
              <a:t>「営業の型が可視化されていないこと」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　採用数に比例して売上が伸びる組織構造が実現できていない</a:t>
            </a:r>
          </a:p>
        </p:txBody>
      </p:sp>
      <p:pic>
        <p:nvPicPr>
          <p:cNvPr id="18" name="Picture 1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課題解決に向けたご提案骨子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Meiryo UI"/>
              </a:rPr>
              <a:t>型の設計×データ可視化×伴走の3施策セットで、採用数に比例して売上が伸びる組織を構築する。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ASIS：戦略推進にあたっての仮説障壁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TOBE：解決策・ご提案骨子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9954" y="1280160"/>
            <a:ext cx="12700" cy="4408322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504" y="1627632"/>
            <a:ext cx="5097780" cy="406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受注率のバラつき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「課題パターン×組み合わせ提案」の型がなく個人の商品知識に依存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ヒアリングが浅いまま提案に入り、機能売りに逃げる構造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競合との機能比較→価格勝負に陥るケースが増加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中途がワークしない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採用市場の構造変化×マネフォ固有の複雑さが重なる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前職スキルが通用せず、得意な1-2商品に偏る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採用数が増えても1人あたり売上が低下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介入ポイントが見えない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どのフェーズで受注率が落ちているか可視化できていない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Excel集計＝ドリルダウン不可＝PDCAの回転が遅い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営業企画として打ち手の判断材料がない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6324" y="1627632"/>
            <a:ext cx="5097780" cy="406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SEP：会計特化の営業の型を設計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カスタマーパス設計：意思決定プロセスに沿ったヒアリングの型を実装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ニーズマップ：課題パターン×プロダクト組み合わせを体系化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中途でも型に沿えば最適提案が可能に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VISUALIZE：介入ポイントを可視化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受注率×フェーズ移行率をリアルタイム可視化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リードソース×担当者別のドリルダウン分析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Excel撤廃→営業企画がデータで即時介入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Buddy伴走：戦略と実行の断絶を埋める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朝会夕会の運用設計×専任Buddy伴走で行動変容を支援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型を知る→実行できる→文化になるまで定着支援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FY28へ向け採用数比例の成長組織を構築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</a:rPr>
              <a:t>第一歩：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 営業の型の可視化（カスタマーパス＋ニーズマップ作成）＋ データ基盤で介入ポイントを可視化</a:t>
            </a:r>
          </a:p>
        </p:txBody>
      </p:sp>
      <p:pic>
        <p:nvPicPr>
          <p:cNvPr id="13" name="Picture 1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