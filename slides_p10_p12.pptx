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8446" y="252374"/>
            <a:ext cx="8686800" cy="2880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100" b="1" i="0">
                <a:solidFill>
                  <a:srgbClr val="1A1A1A"/>
                </a:solidFill>
                <a:latin typeface="Meiryo UI"/>
              </a:rPr>
              <a:t>ご状況について（成長戦略から目指される姿）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838504" y="630021"/>
            <a:ext cx="10515600" cy="1905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8504" y="640080"/>
            <a:ext cx="10515600" cy="6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1A1A1A"/>
                </a:solidFill>
                <a:latin typeface="Meiryo UI"/>
              </a:rPr>
              <a:t>貴社の成長戦略は「No.1 Backoffice AI Company」の実現。「SaaS価値向上」「AIプロダクト」「M&amp;A」を3本柱とし、FY28で売上高900億円（現503億の約1.8倍）を目指す。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838504" y="1280160"/>
            <a:ext cx="3352800" cy="4408322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38504" y="1280160"/>
            <a:ext cx="3352800" cy="101600"/>
          </a:xfrm>
          <a:prstGeom prst="rect">
            <a:avLst/>
          </a:prstGeom>
          <a:solidFill>
            <a:srgbClr val="1D34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286304" y="1518920"/>
            <a:ext cx="457200" cy="457200"/>
          </a:xfrm>
          <a:prstGeom prst="ellipse">
            <a:avLst/>
          </a:prstGeom>
          <a:solidFill>
            <a:srgbClr val="1D34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 i="0">
                <a:solidFill>
                  <a:srgbClr val="FFFFFF"/>
                </a:solidFill>
                <a:latin typeface="Meiryo UI"/>
              </a:rPr>
              <a:t>SaaS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8232" y="2067560"/>
            <a:ext cx="3133344" cy="4572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Meiryo UI"/>
              </a:rPr>
              <a:t>バックオフィスSaaSの価値向上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8232" y="2524760"/>
            <a:ext cx="3133344" cy="3163722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888888"/>
                </a:solidFill>
                <a:latin typeface="Meiryo UI"/>
              </a:rPr>
              <a:t>60超のプロダクトで会計・人事・法務を網羅。顧客基盤の拡大とARPA向上を推進。豊富な業務ロジックを強みに顧客基盤を拡大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19904" y="1280160"/>
            <a:ext cx="3352800" cy="4408322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19904" y="1280160"/>
            <a:ext cx="3352800" cy="101600"/>
          </a:xfrm>
          <a:prstGeom prst="rect">
            <a:avLst/>
          </a:prstGeom>
          <a:solidFill>
            <a:srgbClr val="1B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867704" y="1518920"/>
            <a:ext cx="457200" cy="457200"/>
          </a:xfrm>
          <a:prstGeom prst="ellipse">
            <a:avLst/>
          </a:prstGeom>
          <a:solidFill>
            <a:srgbClr val="1B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 i="0">
                <a:solidFill>
                  <a:srgbClr val="FFFFFF"/>
                </a:solidFill>
                <a:latin typeface="Meiryo UI"/>
              </a:rPr>
              <a:t>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9632" y="2067560"/>
            <a:ext cx="3133344" cy="4572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Meiryo UI"/>
              </a:rPr>
              <a:t>AIプロダクトの開発・提供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9632" y="2524760"/>
            <a:ext cx="3133344" cy="3163722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888888"/>
                </a:solidFill>
                <a:latin typeface="Meiryo UI"/>
              </a:rPr>
              <a:t>AIエージェント／AIネイティブプロダクト／AI×BPOサービスを展開。業務ロジックを活用し自律処理。デジタルツール→デジタルワーカー市場へTAM5倍拡大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01304" y="1280160"/>
            <a:ext cx="3352800" cy="4408322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01304" y="1280160"/>
            <a:ext cx="3352800" cy="101600"/>
          </a:xfrm>
          <a:prstGeom prst="rect">
            <a:avLst/>
          </a:prstGeom>
          <a:solidFill>
            <a:srgbClr val="0066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449104" y="1518920"/>
            <a:ext cx="457200" cy="457200"/>
          </a:xfrm>
          <a:prstGeom prst="ellipse">
            <a:avLst/>
          </a:prstGeom>
          <a:solidFill>
            <a:srgbClr val="0066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 i="0">
                <a:solidFill>
                  <a:srgbClr val="FFFFFF"/>
                </a:solidFill>
                <a:latin typeface="Meiryo UI"/>
              </a:rPr>
              <a:t>M&amp;A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11032" y="2067560"/>
            <a:ext cx="3133344" cy="4572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Meiryo UI"/>
              </a:rPr>
              <a:t>M&amp;A戦略の遂行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11032" y="2524760"/>
            <a:ext cx="3133344" cy="3163722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888888"/>
                </a:solidFill>
                <a:latin typeface="Meiryo UI"/>
              </a:rPr>
              <a:t>経営管理領域を全方位でカバーするためサービスを拡大。アウトルックコンサルティング社等グループジョイン。SaaS×Fintechの融合で顧客基盤を拡充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8504" y="5779922"/>
            <a:ext cx="10515600" cy="502920"/>
          </a:xfrm>
          <a:prstGeom prst="rect">
            <a:avLst/>
          </a:prstGeom>
          <a:solidFill>
            <a:srgbClr val="1D34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21384" y="5779922"/>
            <a:ext cx="10149840" cy="50292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</a:rPr>
              <a:t>FY28 中長期財務ターゲット：</a:t>
            </a:r>
            <a:r>
              <a:rPr sz="1400" b="0" i="0">
                <a:solidFill>
                  <a:srgbClr val="FFFFFF"/>
                </a:solidFill>
                <a:latin typeface="Meiryo UI"/>
              </a:rPr>
              <a:t> 売上高900億円以上 / EBITDA270億円以上 / 事業CF180億円以上　｜　TAMの5倍拡大：デジタルツール市場（2.8兆円）→ デジタルワーカー市場（14.1兆円）</a:t>
            </a:r>
          </a:p>
        </p:txBody>
      </p:sp>
      <p:pic>
        <p:nvPicPr>
          <p:cNvPr id="23" name="Picture 2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8767" y="83210"/>
            <a:ext cx="2016252" cy="627129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838504" y="6355994"/>
            <a:ext cx="10515600" cy="1905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8504" y="6400800"/>
            <a:ext cx="6400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888888"/>
                </a:solidFill>
                <a:latin typeface="Meiryo UI"/>
              </a:rPr>
              <a:t>Confidential All Rights Reserved SALESCORE Co., Ltd.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0" y="6400800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 i="0">
                <a:solidFill>
                  <a:srgbClr val="888888"/>
                </a:solidFill>
                <a:latin typeface="Meiryo U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8446" y="252374"/>
            <a:ext cx="8686800" cy="2880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100" b="1" i="0">
                <a:solidFill>
                  <a:srgbClr val="1A1A1A"/>
                </a:solidFill>
                <a:latin typeface="Meiryo UI"/>
              </a:rPr>
              <a:t>事前にお伺いした内容からの課題仮説</a:t>
            </a:r>
          </a:p>
        </p:txBody>
      </p:sp>
      <p:sp>
        <p:nvSpPr>
          <p:cNvPr id="4" name="Rectangle 3"/>
          <p:cNvSpPr/>
          <p:nvPr/>
        </p:nvSpPr>
        <p:spPr>
          <a:xfrm>
            <a:off x="838504" y="630021"/>
            <a:ext cx="10515600" cy="1905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8504" y="640080"/>
            <a:ext cx="10515600" cy="6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1A1A1A"/>
                </a:solidFill>
                <a:latin typeface="Meiryo UI"/>
              </a:rPr>
              <a:t>お電話でお伺いした事実から、貴社固有の課題仮説を整理しました。合っている・合っていないも含めて率直にお聞かせいただければと思います。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38504" y="1280160"/>
          <a:ext cx="10515600" cy="3420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</a:tblGrid>
              <a:tr h="365760"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Meiryo UI"/>
                        </a:rPr>
                        <a:t>お伺いした事実</a:t>
                      </a:r>
                    </a:p>
                  </a:txBody>
                  <a:tcPr>
                    <a:solidFill>
                      <a:srgbClr val="1D346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Meiryo UI"/>
                        </a:rPr>
                        <a:t>なぜ起きているか</a:t>
                      </a:r>
                    </a:p>
                  </a:txBody>
                  <a:tcPr>
                    <a:solidFill>
                      <a:srgbClr val="1D346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Meiryo UI"/>
                        </a:rPr>
                        <a:t>課題の核心</a:t>
                      </a:r>
                    </a:p>
                  </a:txBody>
                  <a:tcPr>
                    <a:solidFill>
                      <a:srgbClr val="1D3461"/>
                    </a:solidFill>
                  </a:tcPr>
                </a:tc>
              </a:tr>
              <a:tr h="1018336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受注率に個人間ばらつきがある（電話ヒアリングで確認）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60超プロダクトの最適組み合わせが個人の商品知識に依存。「課題パターン×プロダクト組み合わせ」の型が組織に存在しない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提案の型がない｜型なし＝商品知識の差＝受注率の差。競合との機能比較に陥ると価格勝負になる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1018336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中途採用を増やしているが1人あたり売上が低下している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会計×60超プロダクト×SaaS/Fintech/AI三層構造は他SaaSと比較にならない複雑さ。前職スキルがそのまま通用せず得意な1〜2商品に偏る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前職スキルが通用しない複雑さ｜採用数に比例して売上が伸びない構造的問題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18336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Salesforce利用中・集計はExcel併用。「戦略と実行の断絶」セミナーに参加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フェーズ別受注率・リードソース別・担当者別の分析が不可。戦略は描けているが実行を支える可視化基盤がない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介入ポイントが見えない｜受注率低下の原因をデータで特定できず、どこに手を打つべきか判断できない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838504" y="4792370"/>
            <a:ext cx="3310128" cy="566928"/>
          </a:xfrm>
          <a:prstGeom prst="rect">
            <a:avLst/>
          </a:prstGeom>
          <a:solidFill>
            <a:srgbClr val="1D34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02512" y="4856378"/>
            <a:ext cx="182880" cy="182880"/>
          </a:xfrm>
          <a:prstGeom prst="ellipse">
            <a:avLst/>
          </a:prstGeom>
          <a:solidFill>
            <a:srgbClr val="284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100"/>
              </a:spcBef>
            </a:pPr>
            <a:r>
              <a:rPr sz="1200" b="1" i="0">
                <a:solidFill>
                  <a:srgbClr val="4A9EFF"/>
                </a:solidFill>
                <a:latin typeface="Meiryo UI"/>
              </a:rPr>
              <a:t>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1656" y="5066690"/>
            <a:ext cx="3163824" cy="256032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Meiryo UI"/>
              </a:rPr>
              <a:t>提案の型がない</a:t>
            </a:r>
          </a:p>
          <a:p>
            <a:pPr algn="ctr">
              <a:spcBef>
                <a:spcPts val="200"/>
              </a:spcBef>
            </a:pPr>
            <a:r>
              <a:rPr sz="1200" b="0" i="0">
                <a:solidFill>
                  <a:srgbClr val="BBC2D0"/>
                </a:solidFill>
                <a:latin typeface="Meiryo UI"/>
              </a:rPr>
              <a:t>課題パターン×PdX組合せ不在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48632" y="4792370"/>
            <a:ext cx="292608" cy="566928"/>
          </a:xfrm>
          <a:prstGeom prst="rect">
            <a:avLst/>
          </a:prstGeom>
          <a:noFill/>
          <a:effectLst/>
        </p:spPr>
        <p:txBody>
          <a:bodyPr wrap="none">
            <a:spAutoFit/>
          </a:bodyPr>
          <a:lstStyle/>
          <a:p>
            <a:pPr algn="ctr">
              <a:spcBef>
                <a:spcPts val="1000"/>
              </a:spcBef>
            </a:pPr>
            <a:r>
              <a:rPr sz="1400" b="1" i="0">
                <a:solidFill>
                  <a:srgbClr val="0066CD"/>
                </a:solidFill>
                <a:latin typeface="Meiryo UI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41240" y="4792370"/>
            <a:ext cx="3310128" cy="566928"/>
          </a:xfrm>
          <a:prstGeom prst="rect">
            <a:avLst/>
          </a:prstGeom>
          <a:solidFill>
            <a:srgbClr val="1D34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505248" y="4856378"/>
            <a:ext cx="182880" cy="182880"/>
          </a:xfrm>
          <a:prstGeom prst="ellipse">
            <a:avLst/>
          </a:prstGeom>
          <a:solidFill>
            <a:srgbClr val="284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100"/>
              </a:spcBef>
            </a:pPr>
            <a:r>
              <a:rPr sz="1200" b="1" i="0">
                <a:solidFill>
                  <a:srgbClr val="4A9EFF"/>
                </a:solidFill>
                <a:latin typeface="Meiryo UI"/>
              </a:rPr>
              <a:t>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14392" y="5066690"/>
            <a:ext cx="3163824" cy="256032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Meiryo UI"/>
              </a:rPr>
              <a:t>前職スキルが通用しない複雑さ</a:t>
            </a:r>
          </a:p>
          <a:p>
            <a:pPr algn="ctr">
              <a:spcBef>
                <a:spcPts val="200"/>
              </a:spcBef>
            </a:pPr>
            <a:r>
              <a:rPr sz="1200" b="0" i="0">
                <a:solidFill>
                  <a:srgbClr val="BBC2D0"/>
                </a:solidFill>
                <a:latin typeface="Meiryo UI"/>
              </a:rPr>
              <a:t>三層構造がスキル移転を阻害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51368" y="4792370"/>
            <a:ext cx="292608" cy="566928"/>
          </a:xfrm>
          <a:prstGeom prst="rect">
            <a:avLst/>
          </a:prstGeom>
          <a:noFill/>
          <a:effectLst/>
        </p:spPr>
        <p:txBody>
          <a:bodyPr wrap="none">
            <a:spAutoFit/>
          </a:bodyPr>
          <a:lstStyle/>
          <a:p>
            <a:pPr algn="ctr">
              <a:spcBef>
                <a:spcPts val="1000"/>
              </a:spcBef>
            </a:pPr>
            <a:r>
              <a:rPr sz="1400" b="1" i="0">
                <a:solidFill>
                  <a:srgbClr val="0066CD"/>
                </a:solidFill>
                <a:latin typeface="Meiryo U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43976" y="4792370"/>
            <a:ext cx="3310128" cy="566928"/>
          </a:xfrm>
          <a:prstGeom prst="rect">
            <a:avLst/>
          </a:prstGeom>
          <a:solidFill>
            <a:srgbClr val="1D34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107984" y="4856378"/>
            <a:ext cx="182880" cy="182880"/>
          </a:xfrm>
          <a:prstGeom prst="ellipse">
            <a:avLst/>
          </a:prstGeom>
          <a:solidFill>
            <a:srgbClr val="284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100"/>
              </a:spcBef>
            </a:pPr>
            <a:r>
              <a:rPr sz="1200" b="1" i="0">
                <a:solidFill>
                  <a:srgbClr val="4A9EFF"/>
                </a:solidFill>
                <a:latin typeface="Meiryo UI"/>
              </a:rPr>
              <a:t>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17128" y="5066690"/>
            <a:ext cx="3163824" cy="256032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Meiryo UI"/>
              </a:rPr>
              <a:t>介入ポイントが見えない</a:t>
            </a:r>
          </a:p>
          <a:p>
            <a:pPr algn="ctr">
              <a:spcBef>
                <a:spcPts val="200"/>
              </a:spcBef>
            </a:pPr>
            <a:r>
              <a:rPr sz="1200" b="0" i="0">
                <a:solidFill>
                  <a:srgbClr val="BBC2D0"/>
                </a:solidFill>
                <a:latin typeface="Meiryo UI"/>
              </a:rPr>
              <a:t>データ基盤なく原因特定不可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47664" y="5359298"/>
            <a:ext cx="1097280" cy="329184"/>
          </a:xfrm>
          <a:prstGeom prst="rect">
            <a:avLst/>
          </a:prstGeom>
          <a:noFill/>
          <a:effectLst/>
        </p:spPr>
        <p:txBody>
          <a:bodyPr wrap="none">
            <a:spAutoFit/>
          </a:bodyPr>
          <a:lstStyle/>
          <a:p>
            <a:pPr algn="ctr"/>
            <a:r>
              <a:rPr sz="2000" b="1" i="0">
                <a:solidFill>
                  <a:srgbClr val="0066CD"/>
                </a:solidFill>
                <a:latin typeface="Meiryo UI"/>
              </a:rPr>
              <a:t>↓</a:t>
            </a:r>
          </a:p>
          <a:p>
            <a:pPr algn="ctr"/>
            <a:r>
              <a:rPr sz="1200" b="0" i="0">
                <a:solidFill>
                  <a:srgbClr val="4A9EFF"/>
                </a:solidFill>
                <a:latin typeface="Meiryo UI"/>
              </a:rPr>
              <a:t>3つの課題が収束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8504" y="5688482"/>
            <a:ext cx="10515600" cy="594360"/>
          </a:xfrm>
          <a:prstGeom prst="rect">
            <a:avLst/>
          </a:prstGeom>
          <a:solidFill>
            <a:srgbClr val="1D3461"/>
          </a:solidFill>
          <a:ln w="25400">
            <a:solidFill>
              <a:srgbClr val="4A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3096" y="5743346"/>
            <a:ext cx="10186416" cy="521208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4A9EFF"/>
                </a:solidFill>
                <a:latin typeface="Meiryo UI"/>
              </a:rPr>
              <a:t>▶  帰着点</a:t>
            </a:r>
          </a:p>
          <a:p>
            <a:pPr algn="ctr">
              <a:spcBef>
                <a:spcPts val="300"/>
              </a:spcBef>
            </a:pPr>
            <a:r>
              <a:rPr sz="1600" b="1" i="0">
                <a:solidFill>
                  <a:srgbClr val="FFFFFF"/>
                </a:solidFill>
                <a:latin typeface="Meiryo UI"/>
              </a:rPr>
              <a:t>「営業の型が可視化されていないこと」</a:t>
            </a:r>
          </a:p>
          <a:p>
            <a:pPr algn="ctr">
              <a:spcBef>
                <a:spcPts val="200"/>
              </a:spcBef>
            </a:pPr>
            <a:r>
              <a:rPr sz="1200" b="0" i="0">
                <a:solidFill>
                  <a:srgbClr val="BBC2D0"/>
                </a:solidFill>
                <a:latin typeface="Meiryo UI"/>
              </a:rPr>
              <a:t>採用数に比例して売上が伸びる組織構造が実現できていない</a:t>
            </a:r>
          </a:p>
        </p:txBody>
      </p:sp>
      <p:pic>
        <p:nvPicPr>
          <p:cNvPr id="21" name="Picture 20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8767" y="83210"/>
            <a:ext cx="2016252" cy="627129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838504" y="6355994"/>
            <a:ext cx="10515600" cy="1905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8504" y="6400800"/>
            <a:ext cx="6400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888888"/>
                </a:solidFill>
                <a:latin typeface="Meiryo UI"/>
              </a:rPr>
              <a:t>Confidential All Rights Reserved SALESCORE Co., Ltd.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0" y="6400800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 i="0">
                <a:solidFill>
                  <a:srgbClr val="888888"/>
                </a:solidFill>
                <a:latin typeface="Meiryo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8446" y="252374"/>
            <a:ext cx="8686800" cy="2880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100" b="1" i="0">
                <a:solidFill>
                  <a:srgbClr val="1A1A1A"/>
                </a:solidFill>
                <a:latin typeface="Meiryo UI"/>
              </a:rPr>
              <a:t>課題解決に向けたご提案骨子</a:t>
            </a:r>
          </a:p>
        </p:txBody>
      </p:sp>
      <p:sp>
        <p:nvSpPr>
          <p:cNvPr id="4" name="Rectangle 3"/>
          <p:cNvSpPr/>
          <p:nvPr/>
        </p:nvSpPr>
        <p:spPr>
          <a:xfrm>
            <a:off x="838504" y="630021"/>
            <a:ext cx="10515600" cy="1905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8504" y="640080"/>
            <a:ext cx="10515600" cy="6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1A1A1A"/>
                </a:solidFill>
                <a:latin typeface="Meiryo UI"/>
              </a:rPr>
              <a:t>型の設計×データ可視化×伴走の3施策セットで、採用数に比例して売上が伸びる組織を構築する。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8504" y="1280160"/>
            <a:ext cx="50977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 i="0">
                <a:solidFill>
                  <a:srgbClr val="1D3461"/>
                </a:solidFill>
                <a:latin typeface="Meiryo UI"/>
              </a:rPr>
              <a:t>ASIS：戦略推進にあたっての仮説障壁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56324" y="1280160"/>
            <a:ext cx="50977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 i="0">
                <a:solidFill>
                  <a:srgbClr val="1D3461"/>
                </a:solidFill>
                <a:latin typeface="Meiryo UI"/>
              </a:rPr>
              <a:t>TOBE：解決策・ご提案骨子</a:t>
            </a:r>
          </a:p>
        </p:txBody>
      </p:sp>
      <p:sp>
        <p:nvSpPr>
          <p:cNvPr id="8" name="Rectangle 7"/>
          <p:cNvSpPr/>
          <p:nvPr/>
        </p:nvSpPr>
        <p:spPr>
          <a:xfrm>
            <a:off x="6089954" y="1280160"/>
            <a:ext cx="12700" cy="4408322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8504" y="1627632"/>
            <a:ext cx="5097780" cy="4060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1" i="0">
                <a:solidFill>
                  <a:srgbClr val="0066CD"/>
                </a:solidFill>
                <a:latin typeface="Meiryo UI"/>
              </a:rPr>
              <a:t>1. </a:t>
            </a:r>
            <a:r>
              <a:rPr sz="1600" b="1" i="0">
                <a:solidFill>
                  <a:srgbClr val="1A1A1A"/>
                </a:solidFill>
                <a:latin typeface="Meiryo UI"/>
              </a:rPr>
              <a:t>受注率のバラつき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「課題パターン×組み合わせ提案」の型がなく個人の商品知識に依存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ヒアリングが浅いまま提案に入り、機能売りに逃げる構造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競合との機能比較→価格勝負に陥るケースが増加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1" i="0">
                <a:solidFill>
                  <a:srgbClr val="0066CD"/>
                </a:solidFill>
                <a:latin typeface="Meiryo UI"/>
              </a:rPr>
              <a:t>2. </a:t>
            </a:r>
            <a:r>
              <a:rPr sz="1600" b="1" i="0">
                <a:solidFill>
                  <a:srgbClr val="1A1A1A"/>
                </a:solidFill>
                <a:latin typeface="Meiryo UI"/>
              </a:rPr>
              <a:t>中途がワークしない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採用市場の構造変化×マネフォ固有の複雑さが重なる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前職スキルが通用せず、得意な1-2商品に偏る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採用数が増えても1人あたり売上が低下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1" i="0">
                <a:solidFill>
                  <a:srgbClr val="0066CD"/>
                </a:solidFill>
                <a:latin typeface="Meiryo UI"/>
              </a:rPr>
              <a:t>3. </a:t>
            </a:r>
            <a:r>
              <a:rPr sz="1600" b="1" i="0">
                <a:solidFill>
                  <a:srgbClr val="1A1A1A"/>
                </a:solidFill>
                <a:latin typeface="Meiryo UI"/>
              </a:rPr>
              <a:t>介入ポイントが見えない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どのフェーズで受注率が落ちているか可視化できていない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Excel集計＝ドリルダウン不可＝PDCAの回転が遅い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営業企画として打ち手の判断材料がない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56324" y="1627632"/>
            <a:ext cx="5097780" cy="4060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1" i="0">
                <a:solidFill>
                  <a:srgbClr val="0066CD"/>
                </a:solidFill>
                <a:latin typeface="Meiryo UI"/>
              </a:rPr>
              <a:t>1. </a:t>
            </a:r>
            <a:r>
              <a:rPr sz="1600" b="1" i="0">
                <a:solidFill>
                  <a:srgbClr val="1A1A1A"/>
                </a:solidFill>
                <a:latin typeface="Meiryo UI"/>
              </a:rPr>
              <a:t>SEP：会計特化の営業の型を設計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カスタマーパス設計：意思決定プロセスに沿ったヒアリングの型を実装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ニーズマップ：課題パターン×プロダクト組み合わせを体系化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中途でも型に沿えば最適提案が可能に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1" i="0">
                <a:solidFill>
                  <a:srgbClr val="0066CD"/>
                </a:solidFill>
                <a:latin typeface="Meiryo UI"/>
              </a:rPr>
              <a:t>2. </a:t>
            </a:r>
            <a:r>
              <a:rPr sz="1600" b="1" i="0">
                <a:solidFill>
                  <a:srgbClr val="1A1A1A"/>
                </a:solidFill>
                <a:latin typeface="Meiryo UI"/>
              </a:rPr>
              <a:t>VISUALIZE：介入ポイントを可視化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受注率×フェーズ移行率をリアルタイム可視化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リードソース×担当者別のドリルダウン分析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Excel撤廃→営業企画がデータで即時介入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1" i="0">
                <a:solidFill>
                  <a:srgbClr val="0066CD"/>
                </a:solidFill>
                <a:latin typeface="Meiryo UI"/>
              </a:rPr>
              <a:t>3. </a:t>
            </a:r>
            <a:r>
              <a:rPr sz="1600" b="1" i="0">
                <a:solidFill>
                  <a:srgbClr val="1A1A1A"/>
                </a:solidFill>
                <a:latin typeface="Meiryo UI"/>
              </a:rPr>
              <a:t>Buddy伴走：戦略と実行の断絶を埋める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朝会夕会の運用設計×専任Buddy伴走で行動変容を支援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型を知る→実行できる→文化になるまで定着支援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FY28へ向け採用数比例の成長組織を構築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38504" y="5779922"/>
            <a:ext cx="10515600" cy="502920"/>
          </a:xfrm>
          <a:prstGeom prst="rect">
            <a:avLst/>
          </a:prstGeom>
          <a:solidFill>
            <a:srgbClr val="1D34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1384" y="5779922"/>
            <a:ext cx="10149840" cy="50292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</a:rPr>
              <a:t>第一歩：</a:t>
            </a:r>
            <a:r>
              <a:rPr sz="1400" b="0" i="0">
                <a:solidFill>
                  <a:srgbClr val="FFFFFF"/>
                </a:solidFill>
                <a:latin typeface="Meiryo UI"/>
              </a:rPr>
              <a:t> 営業の型の可視化（カスタマーパス＋ニーズマップ作成）＋ データ基盤で介入ポイントを可視化</a:t>
            </a:r>
          </a:p>
        </p:txBody>
      </p:sp>
      <p:pic>
        <p:nvPicPr>
          <p:cNvPr id="13" name="Picture 1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8767" y="83210"/>
            <a:ext cx="2016252" cy="627129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838504" y="6355994"/>
            <a:ext cx="10515600" cy="1905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8504" y="6400800"/>
            <a:ext cx="6400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888888"/>
                </a:solidFill>
                <a:latin typeface="Meiryo UI"/>
              </a:rPr>
              <a:t>Confidential All Rights Reserved SALESCORE Co., Ltd.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400800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 i="0">
                <a:solidFill>
                  <a:srgbClr val="888888"/>
                </a:solidFill>
                <a:latin typeface="Meiryo UI"/>
              </a:rPr>
              <a:t>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