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8446" y="252374"/>
            <a:ext cx="8686800" cy="288036"/>
          </a:xfrm>
          <a:prstGeom prst="rect">
            <a:avLst/>
          </a:prstGeom>
          <a:noFill/>
        </p:spPr>
        <p:txBody>
          <a:bodyPr wrap="none">
            <a:spAutoFit/>
          </a:bodyPr>
          <a:lstStyle/>
          <a:p>
            <a:r>
              <a:rPr sz="2100" b="1" i="0">
                <a:solidFill>
                  <a:srgbClr val="1A1A1A"/>
                </a:solidFill>
                <a:latin typeface="Meiryo UI"/>
              </a:rPr>
              <a:t>ご状況について（成長戦略から目指される姿）</a:t>
            </a:r>
          </a:p>
        </p:txBody>
      </p:sp>
      <p:sp>
        <p:nvSpPr>
          <p:cNvPr id="4" name="Rectangle 3"/>
          <p:cNvSpPr/>
          <p:nvPr/>
        </p:nvSpPr>
        <p:spPr>
          <a:xfrm>
            <a:off x="838504" y="630021"/>
            <a:ext cx="10515600" cy="1905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8504" y="640080"/>
            <a:ext cx="10515600" cy="629107"/>
          </a:xfrm>
          <a:prstGeom prst="rect">
            <a:avLst/>
          </a:prstGeom>
          <a:noFill/>
        </p:spPr>
        <p:txBody>
          <a:bodyPr wrap="square">
            <a:spAutoFit/>
          </a:bodyPr>
          <a:lstStyle/>
          <a:p>
            <a:r>
              <a:rPr sz="1800" b="0" i="0">
                <a:solidFill>
                  <a:srgbClr val="1A1A1A"/>
                </a:solidFill>
                <a:latin typeface="Meiryo UI"/>
              </a:rPr>
              <a:t>貴社の成長戦略は「No.1 Backoffice AI Company」の実現。「SaaS価値向上」「AIプロダクト」「M&amp;A」を3本柱とし、FY28で売上高900億円（現503億の約1.8倍）を目指す。</a:t>
            </a:r>
          </a:p>
        </p:txBody>
      </p:sp>
      <p:sp>
        <p:nvSpPr>
          <p:cNvPr id="6" name="Rectangle 5"/>
          <p:cNvSpPr/>
          <p:nvPr/>
        </p:nvSpPr>
        <p:spPr>
          <a:xfrm>
            <a:off x="838504" y="1280160"/>
            <a:ext cx="3352800" cy="440832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38504" y="1280160"/>
            <a:ext cx="3352800" cy="101600"/>
          </a:xfrm>
          <a:prstGeom prst="rect">
            <a:avLst/>
          </a:prstGeom>
          <a:solidFill>
            <a:srgbClr val="1D34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286304" y="1518920"/>
            <a:ext cx="457200" cy="457200"/>
          </a:xfrm>
          <a:prstGeom prst="ellipse">
            <a:avLst/>
          </a:prstGeom>
          <a:solidFill>
            <a:srgbClr val="1D346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i="0">
                <a:solidFill>
                  <a:srgbClr val="FFFFFF"/>
                </a:solidFill>
                <a:latin typeface="Meiryo UI"/>
              </a:rPr>
              <a:t>SaaS</a:t>
            </a:r>
          </a:p>
        </p:txBody>
      </p:sp>
      <p:sp>
        <p:nvSpPr>
          <p:cNvPr id="9" name="TextBox 8"/>
          <p:cNvSpPr txBox="1"/>
          <p:nvPr/>
        </p:nvSpPr>
        <p:spPr>
          <a:xfrm>
            <a:off x="948232" y="2067560"/>
            <a:ext cx="3133344" cy="457200"/>
          </a:xfrm>
          <a:prstGeom prst="rect">
            <a:avLst/>
          </a:prstGeom>
          <a:noFill/>
          <a:effectLst/>
        </p:spPr>
        <p:txBody>
          <a:bodyPr wrap="square">
            <a:spAutoFit/>
          </a:bodyPr>
          <a:lstStyle/>
          <a:p>
            <a:pPr algn="ctr"/>
            <a:r>
              <a:rPr sz="1400" b="1" i="0">
                <a:solidFill>
                  <a:srgbClr val="1A1A1A"/>
                </a:solidFill>
                <a:latin typeface="Meiryo UI"/>
              </a:rPr>
              <a:t>バックオフィスSaaSの価値向上</a:t>
            </a:r>
          </a:p>
        </p:txBody>
      </p:sp>
      <p:sp>
        <p:nvSpPr>
          <p:cNvPr id="10" name="TextBox 9"/>
          <p:cNvSpPr txBox="1"/>
          <p:nvPr/>
        </p:nvSpPr>
        <p:spPr>
          <a:xfrm>
            <a:off x="948232" y="2524760"/>
            <a:ext cx="3133344" cy="3163722"/>
          </a:xfrm>
          <a:prstGeom prst="rect">
            <a:avLst/>
          </a:prstGeom>
          <a:noFill/>
          <a:effectLst/>
        </p:spPr>
        <p:txBody>
          <a:bodyPr wrap="square">
            <a:spAutoFit/>
          </a:bodyPr>
          <a:lstStyle/>
          <a:p>
            <a:pPr algn="ctr"/>
            <a:r>
              <a:rPr sz="1400" b="0" i="0">
                <a:solidFill>
                  <a:srgbClr val="888888"/>
                </a:solidFill>
                <a:latin typeface="Meiryo UI"/>
              </a:rPr>
              <a:t>60超のプロダクトで会計・人事・法務を網羅。顧客基盤の拡大とARPA向上を推進。豊富な業務ロジックを強みに顧客基盤を拡大</a:t>
            </a:r>
          </a:p>
        </p:txBody>
      </p:sp>
      <p:sp>
        <p:nvSpPr>
          <p:cNvPr id="11" name="Rectangle 10"/>
          <p:cNvSpPr/>
          <p:nvPr/>
        </p:nvSpPr>
        <p:spPr>
          <a:xfrm>
            <a:off x="4419904" y="1280160"/>
            <a:ext cx="3352800" cy="440832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19904" y="1280160"/>
            <a:ext cx="3352800" cy="101600"/>
          </a:xfrm>
          <a:prstGeom prst="rect">
            <a:avLst/>
          </a:prstGeom>
          <a:solidFill>
            <a:srgbClr val="1B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867704" y="1518920"/>
            <a:ext cx="457200" cy="457200"/>
          </a:xfrm>
          <a:prstGeom prst="ellipse">
            <a:avLst/>
          </a:prstGeom>
          <a:solidFill>
            <a:srgbClr val="1B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i="0">
                <a:solidFill>
                  <a:srgbClr val="FFFFFF"/>
                </a:solidFill>
                <a:latin typeface="Meiryo UI"/>
              </a:rPr>
              <a:t>AI</a:t>
            </a:r>
          </a:p>
        </p:txBody>
      </p:sp>
      <p:sp>
        <p:nvSpPr>
          <p:cNvPr id="14" name="TextBox 13"/>
          <p:cNvSpPr txBox="1"/>
          <p:nvPr/>
        </p:nvSpPr>
        <p:spPr>
          <a:xfrm>
            <a:off x="4529632" y="2067560"/>
            <a:ext cx="3133344" cy="457200"/>
          </a:xfrm>
          <a:prstGeom prst="rect">
            <a:avLst/>
          </a:prstGeom>
          <a:noFill/>
          <a:effectLst/>
        </p:spPr>
        <p:txBody>
          <a:bodyPr wrap="square">
            <a:spAutoFit/>
          </a:bodyPr>
          <a:lstStyle/>
          <a:p>
            <a:pPr algn="ctr"/>
            <a:r>
              <a:rPr sz="1400" b="1" i="0">
                <a:solidFill>
                  <a:srgbClr val="1A1A1A"/>
                </a:solidFill>
                <a:latin typeface="Meiryo UI"/>
              </a:rPr>
              <a:t>AIプロダクトの開発・提供</a:t>
            </a:r>
          </a:p>
        </p:txBody>
      </p:sp>
      <p:sp>
        <p:nvSpPr>
          <p:cNvPr id="15" name="TextBox 14"/>
          <p:cNvSpPr txBox="1"/>
          <p:nvPr/>
        </p:nvSpPr>
        <p:spPr>
          <a:xfrm>
            <a:off x="4529632" y="2524760"/>
            <a:ext cx="3133344" cy="3163722"/>
          </a:xfrm>
          <a:prstGeom prst="rect">
            <a:avLst/>
          </a:prstGeom>
          <a:noFill/>
          <a:effectLst/>
        </p:spPr>
        <p:txBody>
          <a:bodyPr wrap="square">
            <a:spAutoFit/>
          </a:bodyPr>
          <a:lstStyle/>
          <a:p>
            <a:pPr algn="ctr"/>
            <a:r>
              <a:rPr sz="1400" b="0" i="0">
                <a:solidFill>
                  <a:srgbClr val="888888"/>
                </a:solidFill>
                <a:latin typeface="Meiryo UI"/>
              </a:rPr>
              <a:t>AIエージェント／AIネイティブプロダクト／AI×BPOサービスを展開。業務ロジックを活用し自律処理。デジタルツール→デジタルワーカー市場へTAM5倍拡大</a:t>
            </a:r>
          </a:p>
        </p:txBody>
      </p:sp>
      <p:sp>
        <p:nvSpPr>
          <p:cNvPr id="16" name="Rectangle 15"/>
          <p:cNvSpPr/>
          <p:nvPr/>
        </p:nvSpPr>
        <p:spPr>
          <a:xfrm>
            <a:off x="8001304" y="1280160"/>
            <a:ext cx="3352800" cy="440832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01304" y="1280160"/>
            <a:ext cx="3352800" cy="101600"/>
          </a:xfrm>
          <a:prstGeom prst="rect">
            <a:avLst/>
          </a:prstGeom>
          <a:solidFill>
            <a:srgbClr val="0066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449104" y="1518920"/>
            <a:ext cx="457200" cy="457200"/>
          </a:xfrm>
          <a:prstGeom prst="ellipse">
            <a:avLst/>
          </a:prstGeom>
          <a:solidFill>
            <a:srgbClr val="0066C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i="0">
                <a:solidFill>
                  <a:srgbClr val="FFFFFF"/>
                </a:solidFill>
                <a:latin typeface="Meiryo UI"/>
              </a:rPr>
              <a:t>M&amp;A</a:t>
            </a:r>
          </a:p>
        </p:txBody>
      </p:sp>
      <p:sp>
        <p:nvSpPr>
          <p:cNvPr id="19" name="TextBox 18"/>
          <p:cNvSpPr txBox="1"/>
          <p:nvPr/>
        </p:nvSpPr>
        <p:spPr>
          <a:xfrm>
            <a:off x="8111032" y="2067560"/>
            <a:ext cx="3133344" cy="457200"/>
          </a:xfrm>
          <a:prstGeom prst="rect">
            <a:avLst/>
          </a:prstGeom>
          <a:noFill/>
          <a:effectLst/>
        </p:spPr>
        <p:txBody>
          <a:bodyPr wrap="square">
            <a:spAutoFit/>
          </a:bodyPr>
          <a:lstStyle/>
          <a:p>
            <a:pPr algn="ctr"/>
            <a:r>
              <a:rPr sz="1400" b="1" i="0">
                <a:solidFill>
                  <a:srgbClr val="1A1A1A"/>
                </a:solidFill>
                <a:latin typeface="Meiryo UI"/>
              </a:rPr>
              <a:t>M&amp;A戦略の遂行</a:t>
            </a:r>
          </a:p>
        </p:txBody>
      </p:sp>
      <p:sp>
        <p:nvSpPr>
          <p:cNvPr id="20" name="TextBox 19"/>
          <p:cNvSpPr txBox="1"/>
          <p:nvPr/>
        </p:nvSpPr>
        <p:spPr>
          <a:xfrm>
            <a:off x="8111032" y="2524760"/>
            <a:ext cx="3133344" cy="3163722"/>
          </a:xfrm>
          <a:prstGeom prst="rect">
            <a:avLst/>
          </a:prstGeom>
          <a:noFill/>
          <a:effectLst/>
        </p:spPr>
        <p:txBody>
          <a:bodyPr wrap="square">
            <a:spAutoFit/>
          </a:bodyPr>
          <a:lstStyle/>
          <a:p>
            <a:pPr algn="ctr"/>
            <a:r>
              <a:rPr sz="1400" b="0" i="0">
                <a:solidFill>
                  <a:srgbClr val="888888"/>
                </a:solidFill>
                <a:latin typeface="Meiryo UI"/>
              </a:rPr>
              <a:t>経営管理領域を全方位でカバーするためサービスを拡大。アウトルックコンサルティング社等グループジョイン。SaaS×Fintechの融合で顧客基盤を拡充</a:t>
            </a:r>
          </a:p>
        </p:txBody>
      </p:sp>
      <p:sp>
        <p:nvSpPr>
          <p:cNvPr id="21" name="Rectangle 20"/>
          <p:cNvSpPr/>
          <p:nvPr/>
        </p:nvSpPr>
        <p:spPr>
          <a:xfrm>
            <a:off x="838504" y="5779922"/>
            <a:ext cx="10515600" cy="502920"/>
          </a:xfrm>
          <a:prstGeom prst="rect">
            <a:avLst/>
          </a:prstGeom>
          <a:solidFill>
            <a:srgbClr val="1D34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1384" y="5779922"/>
            <a:ext cx="10149840" cy="502920"/>
          </a:xfrm>
          <a:prstGeom prst="rect">
            <a:avLst/>
          </a:prstGeom>
          <a:noFill/>
          <a:effectLst/>
        </p:spPr>
        <p:txBody>
          <a:bodyPr wrap="square">
            <a:spAutoFit/>
          </a:bodyPr>
          <a:lstStyle/>
          <a:p>
            <a:pPr algn="ctr"/>
            <a:r>
              <a:rPr sz="1400" b="1" i="0">
                <a:solidFill>
                  <a:srgbClr val="FFFFFF"/>
                </a:solidFill>
                <a:latin typeface="Meiryo UI"/>
              </a:rPr>
              <a:t>FY28 中長期財務ターゲット：</a:t>
            </a:r>
            <a:r>
              <a:rPr sz="1400" b="0" i="0">
                <a:solidFill>
                  <a:srgbClr val="FFFFFF"/>
                </a:solidFill>
                <a:latin typeface="Meiryo UI"/>
              </a:rPr>
              <a:t> 売上高900億円以上 / EBITDA270億円以上 / 事業CF180億円以上　｜　TAMの5倍拡大：デジタルツール市場（2.8兆円）→ デジタルワーカー市場（14.1兆円）</a:t>
            </a:r>
          </a:p>
        </p:txBody>
      </p:sp>
      <p:pic>
        <p:nvPicPr>
          <p:cNvPr id="23" name="Picture 22" descr="logo.png"/>
          <p:cNvPicPr>
            <a:picLocks noChangeAspect="1"/>
          </p:cNvPicPr>
          <p:nvPr/>
        </p:nvPicPr>
        <p:blipFill>
          <a:blip r:embed="rId2"/>
          <a:stretch>
            <a:fillRect/>
          </a:stretch>
        </p:blipFill>
        <p:spPr>
          <a:xfrm>
            <a:off x="9338767" y="83210"/>
            <a:ext cx="2016252" cy="627129"/>
          </a:xfrm>
          <a:prstGeom prst="rect">
            <a:avLst/>
          </a:prstGeom>
        </p:spPr>
      </p:pic>
      <p:sp>
        <p:nvSpPr>
          <p:cNvPr id="24" name="Rectangle 23"/>
          <p:cNvSpPr/>
          <p:nvPr/>
        </p:nvSpPr>
        <p:spPr>
          <a:xfrm>
            <a:off x="838504" y="6355994"/>
            <a:ext cx="10515600" cy="1905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8504" y="6400800"/>
            <a:ext cx="6400800" cy="228600"/>
          </a:xfrm>
          <a:prstGeom prst="rect">
            <a:avLst/>
          </a:prstGeom>
          <a:noFill/>
        </p:spPr>
        <p:txBody>
          <a:bodyPr wrap="none">
            <a:spAutoFit/>
          </a:bodyPr>
          <a:lstStyle/>
          <a:p>
            <a:r>
              <a:rPr sz="900" b="0" i="0">
                <a:solidFill>
                  <a:srgbClr val="888888"/>
                </a:solidFill>
                <a:latin typeface="Meiryo UI"/>
              </a:rPr>
              <a:t>Confidential All Rights Reserved SALESCORE Co., Ltd.</a:t>
            </a:r>
          </a:p>
        </p:txBody>
      </p:sp>
      <p:sp>
        <p:nvSpPr>
          <p:cNvPr id="26" name="TextBox 25"/>
          <p:cNvSpPr txBox="1"/>
          <p:nvPr/>
        </p:nvSpPr>
        <p:spPr>
          <a:xfrm>
            <a:off x="10515600" y="6400800"/>
            <a:ext cx="1371600" cy="228600"/>
          </a:xfrm>
          <a:prstGeom prst="rect">
            <a:avLst/>
          </a:prstGeom>
          <a:noFill/>
        </p:spPr>
        <p:txBody>
          <a:bodyPr wrap="none">
            <a:spAutoFit/>
          </a:bodyPr>
          <a:lstStyle/>
          <a:p>
            <a:pPr algn="r"/>
            <a:r>
              <a:rPr sz="1200" b="0" i="0">
                <a:solidFill>
                  <a:srgbClr val="888888"/>
                </a:solidFill>
                <a:latin typeface="Meiryo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8446" y="252374"/>
            <a:ext cx="8686800" cy="288036"/>
          </a:xfrm>
          <a:prstGeom prst="rect">
            <a:avLst/>
          </a:prstGeom>
          <a:noFill/>
        </p:spPr>
        <p:txBody>
          <a:bodyPr wrap="none">
            <a:spAutoFit/>
          </a:bodyPr>
          <a:lstStyle/>
          <a:p>
            <a:r>
              <a:rPr sz="2100" b="1" i="0">
                <a:solidFill>
                  <a:srgbClr val="1A1A1A"/>
                </a:solidFill>
                <a:latin typeface="Meiryo UI"/>
              </a:rPr>
              <a:t>事前にお伺いした内容からの課題仮説</a:t>
            </a:r>
          </a:p>
        </p:txBody>
      </p:sp>
      <p:sp>
        <p:nvSpPr>
          <p:cNvPr id="4" name="Rectangle 3"/>
          <p:cNvSpPr/>
          <p:nvPr/>
        </p:nvSpPr>
        <p:spPr>
          <a:xfrm>
            <a:off x="838504" y="630021"/>
            <a:ext cx="10515600" cy="1905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8504" y="640080"/>
            <a:ext cx="10515600" cy="629107"/>
          </a:xfrm>
          <a:prstGeom prst="rect">
            <a:avLst/>
          </a:prstGeom>
          <a:noFill/>
        </p:spPr>
        <p:txBody>
          <a:bodyPr wrap="square">
            <a:spAutoFit/>
          </a:bodyPr>
          <a:lstStyle/>
          <a:p>
            <a:r>
              <a:rPr sz="1800" b="0" i="0">
                <a:solidFill>
                  <a:srgbClr val="1A1A1A"/>
                </a:solidFill>
                <a:latin typeface="Meiryo UI"/>
              </a:rPr>
              <a:t>お電話でお伺いした事実から、貴社固有の課題仮説を整理しました。合っている・合っていないも含めて率直にお聞かせいただければと思います。</a:t>
            </a:r>
          </a:p>
        </p:txBody>
      </p:sp>
      <p:graphicFrame>
        <p:nvGraphicFramePr>
          <p:cNvPr id="6" name="Table 5"/>
          <p:cNvGraphicFramePr>
            <a:graphicFrameLocks noGrp="1"/>
          </p:cNvGraphicFramePr>
          <p:nvPr/>
        </p:nvGraphicFramePr>
        <p:xfrm>
          <a:off x="838504" y="1280160"/>
          <a:ext cx="10515600" cy="3657600"/>
        </p:xfrm>
        <a:graphic>
          <a:graphicData uri="http://schemas.openxmlformats.org/drawingml/2006/table">
            <a:tbl>
              <a:tblPr firstRow="1" bandRow="1">
                <a:tableStyleId>{5C22544A-7EE6-4342-B048-85BDC9FD1C3A}</a:tableStyleId>
              </a:tblPr>
              <a:tblGrid>
                <a:gridCol w="5257800"/>
                <a:gridCol w="5257800"/>
              </a:tblGrid>
              <a:tr h="365760">
                <a:tc>
                  <a:txBody>
                    <a:bodyPr wrap="square"/>
                    <a:lstStyle/>
                    <a:p>
                      <a:pPr algn="ctr"/>
                      <a:r>
                        <a:rPr sz="1400" b="1" i="0">
                          <a:solidFill>
                            <a:srgbClr val="FFFFFF"/>
                          </a:solidFill>
                          <a:latin typeface="Meiryo UI"/>
                        </a:rPr>
                        <a:t>事象（Fact）</a:t>
                      </a:r>
                    </a:p>
                  </a:txBody>
                  <a:tcPr>
                    <a:solidFill>
                      <a:srgbClr val="1D3461"/>
                    </a:solidFill>
                  </a:tcPr>
                </a:tc>
                <a:tc>
                  <a:txBody>
                    <a:bodyPr wrap="square"/>
                    <a:lstStyle/>
                    <a:p>
                      <a:pPr algn="ctr"/>
                      <a:r>
                        <a:rPr sz="1400" b="1" i="0">
                          <a:solidFill>
                            <a:srgbClr val="FFFFFF"/>
                          </a:solidFill>
                          <a:latin typeface="Meiryo UI"/>
                        </a:rPr>
                        <a:t>課題の核心（Insight）</a:t>
                      </a:r>
                    </a:p>
                  </a:txBody>
                  <a:tcPr>
                    <a:solidFill>
                      <a:srgbClr val="1D3461"/>
                    </a:solidFill>
                  </a:tcPr>
                </a:tc>
              </a:tr>
              <a:tr h="1097280">
                <a:tc>
                  <a:txBody>
                    <a:bodyPr wrap="square"/>
                    <a:lstStyle/>
                    <a:p>
                      <a:pPr algn="l"/>
                      <a:r>
                        <a:rPr sz="1400" b="0" i="0">
                          <a:solidFill>
                            <a:srgbClr val="1A1A1A"/>
                          </a:solidFill>
                          <a:latin typeface="Meiryo UI"/>
                        </a:rPr>
                        <a:t>受注率に個人間バラつき。機能売りになりがち。提案の仮説もばらつく（決裁者同一で検討商材が多い）</a:t>
                      </a:r>
                    </a:p>
                  </a:txBody>
                  <a:tcPr>
                    <a:solidFill>
                      <a:srgbClr val="F5F7FA"/>
                    </a:solidFill>
                  </a:tcPr>
                </a:tc>
                <a:tc>
                  <a:txBody>
                    <a:bodyPr wrap="square"/>
                    <a:lstStyle/>
                    <a:p>
                      <a:pPr algn="l"/>
                      <a:r>
                        <a:rPr sz="1400" b="1" i="0">
                          <a:solidFill>
                            <a:srgbClr val="1A1A1A"/>
                          </a:solidFill>
                          <a:latin typeface="Meiryo UI"/>
                        </a:rPr>
                        <a:t>「課題パターン×プロダクト組み合わせ」の型がない。</a:t>
                      </a:r>
                      <a:r>
                        <a:rPr sz="1400" b="0" i="0">
                          <a:solidFill>
                            <a:srgbClr val="1A1A1A"/>
                          </a:solidFill>
                          <a:latin typeface="Meiryo UI"/>
                        </a:rPr>
                        <a:t> 60超プロダクトの最適組み合わせは個人の商品知識依存。型なし＝商品知識の差＝受注率の差。競合との機能比較に陥ると価格勝負になり提案の質でしか差がつかない</a:t>
                      </a:r>
                    </a:p>
                  </a:txBody>
                  <a:tcPr>
                    <a:solidFill>
                      <a:srgbClr val="F5F7FA"/>
                    </a:solidFill>
                  </a:tcPr>
                </a:tc>
              </a:tr>
              <a:tr h="1097280">
                <a:tc>
                  <a:txBody>
                    <a:bodyPr wrap="square"/>
                    <a:lstStyle/>
                    <a:p>
                      <a:pPr algn="l"/>
                      <a:r>
                        <a:rPr sz="1400" b="0" i="0">
                          <a:solidFill>
                            <a:srgbClr val="1A1A1A"/>
                          </a:solidFill>
                          <a:latin typeface="Meiryo UI"/>
                        </a:rPr>
                        <a:t>中途採用を増やしているがワークしない。1人あたり売上が低下している</a:t>
                      </a:r>
                    </a:p>
                  </a:txBody>
                  <a:tcPr>
                    <a:solidFill>
                      <a:srgbClr val="FFFFFF"/>
                    </a:solidFill>
                  </a:tcPr>
                </a:tc>
                <a:tc>
                  <a:txBody>
                    <a:bodyPr wrap="square"/>
                    <a:lstStyle/>
                    <a:p>
                      <a:pPr algn="l"/>
                      <a:r>
                        <a:rPr sz="1400" b="1" i="0">
                          <a:solidFill>
                            <a:srgbClr val="1A1A1A"/>
                          </a:solidFill>
                          <a:latin typeface="Meiryo UI"/>
                        </a:rPr>
                        <a:t>マネフォ固有の複雑さが前職スキルを無効化。</a:t>
                      </a:r>
                      <a:r>
                        <a:rPr sz="1400" b="0" i="0">
                          <a:solidFill>
                            <a:srgbClr val="1A1A1A"/>
                          </a:solidFill>
                          <a:latin typeface="Meiryo UI"/>
                        </a:rPr>
                        <a:t>「会計×60超プロダクト×SaaS/Fintech/AI三層構造」は他SaaSと比較にならない複雑さ。前職スキルがそのまま通用せず、得意な1-2商品に偏る</a:t>
                      </a:r>
                    </a:p>
                  </a:txBody>
                  <a:tcPr>
                    <a:solidFill>
                      <a:srgbClr val="FFFFFF"/>
                    </a:solidFill>
                  </a:tcPr>
                </a:tc>
              </a:tr>
              <a:tr h="1097280">
                <a:tc>
                  <a:txBody>
                    <a:bodyPr wrap="square"/>
                    <a:lstStyle/>
                    <a:p>
                      <a:pPr algn="l"/>
                      <a:r>
                        <a:rPr sz="1400" b="0" i="0">
                          <a:solidFill>
                            <a:srgbClr val="1A1A1A"/>
                          </a:solidFill>
                          <a:latin typeface="Meiryo UI"/>
                        </a:rPr>
                        <a:t>Salesforce利用中・集計はExcel併用。「戦略と実行の断絶」セミナーに参加</a:t>
                      </a:r>
                    </a:p>
                  </a:txBody>
                  <a:tcPr>
                    <a:solidFill>
                      <a:srgbClr val="F5F7FA"/>
                    </a:solidFill>
                  </a:tcPr>
                </a:tc>
                <a:tc>
                  <a:txBody>
                    <a:bodyPr wrap="square"/>
                    <a:lstStyle/>
                    <a:p>
                      <a:pPr algn="l"/>
                      <a:r>
                        <a:rPr sz="1400" b="1" i="0">
                          <a:solidFill>
                            <a:srgbClr val="1A1A1A"/>
                          </a:solidFill>
                          <a:latin typeface="Meiryo UI"/>
                        </a:rPr>
                        <a:t>受注率低下の原因をデータで特定できず介入ポイントが見えない。</a:t>
                      </a:r>
                      <a:r>
                        <a:rPr sz="1400" b="0" i="0">
                          <a:solidFill>
                            <a:srgbClr val="1A1A1A"/>
                          </a:solidFill>
                          <a:latin typeface="Meiryo UI"/>
                        </a:rPr>
                        <a:t> フェーズ別受注率・リードソース別担当者別の分析が不可。戦略は描けているが実行を支える基盤がない</a:t>
                      </a:r>
                    </a:p>
                  </a:txBody>
                  <a:tcPr>
                    <a:solidFill>
                      <a:srgbClr val="F5F7FA"/>
                    </a:solidFill>
                  </a:tcPr>
                </a:tc>
              </a:tr>
            </a:tbl>
          </a:graphicData>
        </a:graphic>
      </p:graphicFrame>
      <p:sp>
        <p:nvSpPr>
          <p:cNvPr id="7" name="Rectangle 6"/>
          <p:cNvSpPr/>
          <p:nvPr/>
        </p:nvSpPr>
        <p:spPr>
          <a:xfrm>
            <a:off x="838504" y="5779922"/>
            <a:ext cx="10515600" cy="502920"/>
          </a:xfrm>
          <a:prstGeom prst="rect">
            <a:avLst/>
          </a:prstGeom>
          <a:solidFill>
            <a:srgbClr val="1D34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1384" y="5779922"/>
            <a:ext cx="10149840" cy="502920"/>
          </a:xfrm>
          <a:prstGeom prst="rect">
            <a:avLst/>
          </a:prstGeom>
          <a:noFill/>
          <a:effectLst/>
        </p:spPr>
        <p:txBody>
          <a:bodyPr wrap="square">
            <a:spAutoFit/>
          </a:bodyPr>
          <a:lstStyle/>
          <a:p>
            <a:pPr algn="ctr"/>
            <a:r>
              <a:rPr sz="1400" b="0" i="0">
                <a:solidFill>
                  <a:srgbClr val="FFFFFF"/>
                </a:solidFill>
                <a:latin typeface="Meiryo UI"/>
              </a:rPr>
              <a:t>3仮説の帰着点：</a:t>
            </a:r>
            <a:r>
              <a:rPr sz="1400" b="1" i="0">
                <a:solidFill>
                  <a:srgbClr val="FFFFFF"/>
                </a:solidFill>
                <a:latin typeface="Meiryo UI"/>
              </a:rPr>
              <a:t>「営業の型が可視化されていないこと」</a:t>
            </a:r>
            <a:r>
              <a:rPr sz="1400" b="0" i="0">
                <a:solidFill>
                  <a:srgbClr val="FFFFFF"/>
                </a:solidFill>
                <a:latin typeface="Meiryo UI"/>
              </a:rPr>
              <a:t>。採用数に比例して売上が伸びる組織構造が実現できていない</a:t>
            </a:r>
          </a:p>
        </p:txBody>
      </p:sp>
      <p:pic>
        <p:nvPicPr>
          <p:cNvPr id="9" name="Picture 8" descr="logo.png"/>
          <p:cNvPicPr>
            <a:picLocks noChangeAspect="1"/>
          </p:cNvPicPr>
          <p:nvPr/>
        </p:nvPicPr>
        <p:blipFill>
          <a:blip r:embed="rId2"/>
          <a:stretch>
            <a:fillRect/>
          </a:stretch>
        </p:blipFill>
        <p:spPr>
          <a:xfrm>
            <a:off x="9338767" y="83210"/>
            <a:ext cx="2016252" cy="627129"/>
          </a:xfrm>
          <a:prstGeom prst="rect">
            <a:avLst/>
          </a:prstGeom>
        </p:spPr>
      </p:pic>
      <p:sp>
        <p:nvSpPr>
          <p:cNvPr id="10" name="Rectangle 9"/>
          <p:cNvSpPr/>
          <p:nvPr/>
        </p:nvSpPr>
        <p:spPr>
          <a:xfrm>
            <a:off x="838504" y="6355994"/>
            <a:ext cx="10515600" cy="1905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504" y="6400800"/>
            <a:ext cx="6400800" cy="228600"/>
          </a:xfrm>
          <a:prstGeom prst="rect">
            <a:avLst/>
          </a:prstGeom>
          <a:noFill/>
        </p:spPr>
        <p:txBody>
          <a:bodyPr wrap="none">
            <a:spAutoFit/>
          </a:bodyPr>
          <a:lstStyle/>
          <a:p>
            <a:r>
              <a:rPr sz="900" b="0" i="0">
                <a:solidFill>
                  <a:srgbClr val="888888"/>
                </a:solidFill>
                <a:latin typeface="Meiryo UI"/>
              </a:rPr>
              <a:t>Confidential All Rights Reserved SALESCORE Co., Ltd.</a:t>
            </a:r>
          </a:p>
        </p:txBody>
      </p:sp>
      <p:sp>
        <p:nvSpPr>
          <p:cNvPr id="12" name="TextBox 11"/>
          <p:cNvSpPr txBox="1"/>
          <p:nvPr/>
        </p:nvSpPr>
        <p:spPr>
          <a:xfrm>
            <a:off x="10515600" y="6400800"/>
            <a:ext cx="1371600" cy="228600"/>
          </a:xfrm>
          <a:prstGeom prst="rect">
            <a:avLst/>
          </a:prstGeom>
          <a:noFill/>
        </p:spPr>
        <p:txBody>
          <a:bodyPr wrap="none">
            <a:spAutoFit/>
          </a:bodyPr>
          <a:lstStyle/>
          <a:p>
            <a:pPr algn="r"/>
            <a:r>
              <a:rPr sz="1200" b="0" i="0">
                <a:solidFill>
                  <a:srgbClr val="888888"/>
                </a:solidFill>
                <a:latin typeface="Meiryo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8446" y="252374"/>
            <a:ext cx="8686800" cy="288036"/>
          </a:xfrm>
          <a:prstGeom prst="rect">
            <a:avLst/>
          </a:prstGeom>
          <a:noFill/>
        </p:spPr>
        <p:txBody>
          <a:bodyPr wrap="none">
            <a:spAutoFit/>
          </a:bodyPr>
          <a:lstStyle/>
          <a:p>
            <a:r>
              <a:rPr sz="2100" b="1" i="0">
                <a:solidFill>
                  <a:srgbClr val="1A1A1A"/>
                </a:solidFill>
                <a:latin typeface="Meiryo UI"/>
              </a:rPr>
              <a:t>課題解決に向けたご提案骨子</a:t>
            </a:r>
          </a:p>
        </p:txBody>
      </p:sp>
      <p:sp>
        <p:nvSpPr>
          <p:cNvPr id="4" name="Rectangle 3"/>
          <p:cNvSpPr/>
          <p:nvPr/>
        </p:nvSpPr>
        <p:spPr>
          <a:xfrm>
            <a:off x="838504" y="630021"/>
            <a:ext cx="10515600" cy="1905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8504" y="640080"/>
            <a:ext cx="10515600" cy="629107"/>
          </a:xfrm>
          <a:prstGeom prst="rect">
            <a:avLst/>
          </a:prstGeom>
          <a:noFill/>
        </p:spPr>
        <p:txBody>
          <a:bodyPr wrap="square">
            <a:spAutoFit/>
          </a:bodyPr>
          <a:lstStyle/>
          <a:p>
            <a:r>
              <a:rPr sz="1800" b="1" i="0">
                <a:solidFill>
                  <a:srgbClr val="1A1A1A"/>
                </a:solidFill>
                <a:latin typeface="Meiryo UI"/>
              </a:rPr>
              <a:t>型の設計×データ可視化×伴走の3施策セットで、採用数に比例して売上が伸びる組織を構築する。</a:t>
            </a:r>
          </a:p>
        </p:txBody>
      </p:sp>
      <p:sp>
        <p:nvSpPr>
          <p:cNvPr id="6" name="TextBox 5"/>
          <p:cNvSpPr txBox="1"/>
          <p:nvPr/>
        </p:nvSpPr>
        <p:spPr>
          <a:xfrm>
            <a:off x="838504" y="1280160"/>
            <a:ext cx="5097780" cy="320040"/>
          </a:xfrm>
          <a:prstGeom prst="rect">
            <a:avLst/>
          </a:prstGeom>
          <a:noFill/>
        </p:spPr>
        <p:txBody>
          <a:bodyPr wrap="none">
            <a:spAutoFit/>
          </a:bodyPr>
          <a:lstStyle/>
          <a:p>
            <a:r>
              <a:rPr sz="1400" b="1" i="0">
                <a:solidFill>
                  <a:srgbClr val="1D3461"/>
                </a:solidFill>
                <a:latin typeface="Meiryo UI"/>
              </a:rPr>
              <a:t>ASIS：戦略推進にあたっての仮説障壁</a:t>
            </a:r>
          </a:p>
        </p:txBody>
      </p:sp>
      <p:sp>
        <p:nvSpPr>
          <p:cNvPr id="7" name="TextBox 6"/>
          <p:cNvSpPr txBox="1"/>
          <p:nvPr/>
        </p:nvSpPr>
        <p:spPr>
          <a:xfrm>
            <a:off x="6256324" y="1280160"/>
            <a:ext cx="5097780" cy="320040"/>
          </a:xfrm>
          <a:prstGeom prst="rect">
            <a:avLst/>
          </a:prstGeom>
          <a:noFill/>
        </p:spPr>
        <p:txBody>
          <a:bodyPr wrap="none">
            <a:spAutoFit/>
          </a:bodyPr>
          <a:lstStyle/>
          <a:p>
            <a:r>
              <a:rPr sz="1400" b="1" i="0">
                <a:solidFill>
                  <a:srgbClr val="1D3461"/>
                </a:solidFill>
                <a:latin typeface="Meiryo UI"/>
              </a:rPr>
              <a:t>TOBE：解決策・ご提案骨子</a:t>
            </a:r>
          </a:p>
        </p:txBody>
      </p:sp>
      <p:sp>
        <p:nvSpPr>
          <p:cNvPr id="8" name="Rectangle 7"/>
          <p:cNvSpPr/>
          <p:nvPr/>
        </p:nvSpPr>
        <p:spPr>
          <a:xfrm>
            <a:off x="6089954" y="1280160"/>
            <a:ext cx="12700" cy="4408322"/>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8504" y="1627632"/>
            <a:ext cx="5097780" cy="4060850"/>
          </a:xfrm>
          <a:prstGeom prst="rect">
            <a:avLst/>
          </a:prstGeom>
          <a:noFill/>
        </p:spPr>
        <p:txBody>
          <a:bodyPr wrap="square">
            <a:spAutoFit/>
          </a:bodyPr>
          <a:lstStyle/>
          <a:p>
            <a:pPr>
              <a:spcBef>
                <a:spcPts val="600"/>
              </a:spcBef>
              <a:spcAft>
                <a:spcPts val="200"/>
              </a:spcAft>
            </a:pPr>
            <a:r>
              <a:rPr sz="1600" b="1" i="0">
                <a:solidFill>
                  <a:srgbClr val="0066CD"/>
                </a:solidFill>
                <a:latin typeface="Meiryo UI"/>
              </a:rPr>
              <a:t>1. </a:t>
            </a:r>
            <a:r>
              <a:rPr sz="1600" b="1" i="0">
                <a:solidFill>
                  <a:srgbClr val="1A1A1A"/>
                </a:solidFill>
                <a:latin typeface="Meiryo UI"/>
              </a:rPr>
              <a:t>受注率のバラつき</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「課題パターン×組み合わせ提案」の型がなく個人の商品知識に依存</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ヒアリングが浅いまま提案に入り、機能売りに逃げる構造</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競合との機能比較→価格勝負に陥るケースが増加</a:t>
            </a:r>
          </a:p>
          <a:p>
            <a:pPr>
              <a:spcBef>
                <a:spcPts val="600"/>
              </a:spcBef>
              <a:spcAft>
                <a:spcPts val="200"/>
              </a:spcAft>
            </a:pPr>
            <a:r>
              <a:rPr sz="1600" b="1" i="0">
                <a:solidFill>
                  <a:srgbClr val="0066CD"/>
                </a:solidFill>
                <a:latin typeface="Meiryo UI"/>
              </a:rPr>
              <a:t>2. </a:t>
            </a:r>
            <a:r>
              <a:rPr sz="1600" b="1" i="0">
                <a:solidFill>
                  <a:srgbClr val="1A1A1A"/>
                </a:solidFill>
                <a:latin typeface="Meiryo UI"/>
              </a:rPr>
              <a:t>中途がワークしない</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採用市場の構造変化×マネフォ固有の複雑さが重なる</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前職スキルが通用せず、得意な1-2商品に偏る</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採用数が増えても1人あたり売上が低下</a:t>
            </a:r>
          </a:p>
          <a:p>
            <a:pPr>
              <a:spcBef>
                <a:spcPts val="600"/>
              </a:spcBef>
              <a:spcAft>
                <a:spcPts val="200"/>
              </a:spcAft>
            </a:pPr>
            <a:r>
              <a:rPr sz="1600" b="1" i="0">
                <a:solidFill>
                  <a:srgbClr val="0066CD"/>
                </a:solidFill>
                <a:latin typeface="Meiryo UI"/>
              </a:rPr>
              <a:t>3. </a:t>
            </a:r>
            <a:r>
              <a:rPr sz="1600" b="1" i="0">
                <a:solidFill>
                  <a:srgbClr val="1A1A1A"/>
                </a:solidFill>
                <a:latin typeface="Meiryo UI"/>
              </a:rPr>
              <a:t>介入ポイントが見えない</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どのフェーズで受注率が落ちているか可視化できていない</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Excel集計＝ドリルダウン不可＝PDCAの回転が遅い</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営業企画として打ち手の判断材料がない</a:t>
            </a:r>
          </a:p>
        </p:txBody>
      </p:sp>
      <p:sp>
        <p:nvSpPr>
          <p:cNvPr id="10" name="TextBox 9"/>
          <p:cNvSpPr txBox="1"/>
          <p:nvPr/>
        </p:nvSpPr>
        <p:spPr>
          <a:xfrm>
            <a:off x="6256324" y="1627632"/>
            <a:ext cx="5097780" cy="4060850"/>
          </a:xfrm>
          <a:prstGeom prst="rect">
            <a:avLst/>
          </a:prstGeom>
          <a:noFill/>
        </p:spPr>
        <p:txBody>
          <a:bodyPr wrap="square">
            <a:spAutoFit/>
          </a:bodyPr>
          <a:lstStyle/>
          <a:p>
            <a:pPr>
              <a:spcBef>
                <a:spcPts val="600"/>
              </a:spcBef>
              <a:spcAft>
                <a:spcPts val="200"/>
              </a:spcAft>
            </a:pPr>
            <a:r>
              <a:rPr sz="1600" b="1" i="0">
                <a:solidFill>
                  <a:srgbClr val="0066CD"/>
                </a:solidFill>
                <a:latin typeface="Meiryo UI"/>
              </a:rPr>
              <a:t>1. </a:t>
            </a:r>
            <a:r>
              <a:rPr sz="1600" b="1" i="0">
                <a:solidFill>
                  <a:srgbClr val="1A1A1A"/>
                </a:solidFill>
                <a:latin typeface="Meiryo UI"/>
              </a:rPr>
              <a:t>SEP：会計特化の営業の型を設計</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カスタマーパス設計：意思決定プロセスに沿ったヒアリングの型を実装</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ニーズマップ：課題パターン×プロダクト組み合わせを体系化</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中途でも型に沿えば最適提案が可能に</a:t>
            </a:r>
          </a:p>
          <a:p>
            <a:pPr>
              <a:spcBef>
                <a:spcPts val="600"/>
              </a:spcBef>
              <a:spcAft>
                <a:spcPts val="200"/>
              </a:spcAft>
            </a:pPr>
            <a:r>
              <a:rPr sz="1600" b="1" i="0">
                <a:solidFill>
                  <a:srgbClr val="0066CD"/>
                </a:solidFill>
                <a:latin typeface="Meiryo UI"/>
              </a:rPr>
              <a:t>2. </a:t>
            </a:r>
            <a:r>
              <a:rPr sz="1600" b="1" i="0">
                <a:solidFill>
                  <a:srgbClr val="1A1A1A"/>
                </a:solidFill>
                <a:latin typeface="Meiryo UI"/>
              </a:rPr>
              <a:t>VISUALIZE：介入ポイントを可視化</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受注率×フェーズ移行率をリアルタイム可視化</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リードソース×担当者別のドリルダウン分析</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Excel撤廃→営業企画がデータで即時介入</a:t>
            </a:r>
          </a:p>
          <a:p>
            <a:pPr>
              <a:spcBef>
                <a:spcPts val="600"/>
              </a:spcBef>
              <a:spcAft>
                <a:spcPts val="200"/>
              </a:spcAft>
            </a:pPr>
            <a:r>
              <a:rPr sz="1600" b="1" i="0">
                <a:solidFill>
                  <a:srgbClr val="0066CD"/>
                </a:solidFill>
                <a:latin typeface="Meiryo UI"/>
              </a:rPr>
              <a:t>3. </a:t>
            </a:r>
            <a:r>
              <a:rPr sz="1600" b="1" i="0">
                <a:solidFill>
                  <a:srgbClr val="1A1A1A"/>
                </a:solidFill>
                <a:latin typeface="Meiryo UI"/>
              </a:rPr>
              <a:t>Buddy伴走：戦略と実行の断絶を埋める</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朝会夕会の運用設計×専任Buddy伴走で行動変容を支援</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型を知る→実行できる→文化になるまで定着支援</a:t>
            </a:r>
          </a:p>
          <a:p>
            <a:pPr>
              <a:spcBef>
                <a:spcPts val="300"/>
              </a:spcBef>
              <a:spcAft>
                <a:spcPts val="100"/>
              </a:spcAft>
            </a:pPr>
            <a:r>
              <a:rPr sz="1400" b="0" i="0">
                <a:solidFill>
                  <a:srgbClr val="888888"/>
                </a:solidFill>
                <a:latin typeface="Meiryo UI"/>
              </a:rPr>
              <a:t>      – </a:t>
            </a:r>
            <a:r>
              <a:rPr sz="1400" b="0" i="0">
                <a:solidFill>
                  <a:srgbClr val="1A1A1A"/>
                </a:solidFill>
                <a:latin typeface="Meiryo UI"/>
              </a:rPr>
              <a:t>FY28へ向け採用数比例の成長組織を構築</a:t>
            </a:r>
          </a:p>
        </p:txBody>
      </p:sp>
      <p:sp>
        <p:nvSpPr>
          <p:cNvPr id="11" name="Rectangle 10"/>
          <p:cNvSpPr/>
          <p:nvPr/>
        </p:nvSpPr>
        <p:spPr>
          <a:xfrm>
            <a:off x="838504" y="5779922"/>
            <a:ext cx="10515600" cy="502920"/>
          </a:xfrm>
          <a:prstGeom prst="rect">
            <a:avLst/>
          </a:prstGeom>
          <a:solidFill>
            <a:srgbClr val="1D34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1384" y="5779922"/>
            <a:ext cx="10149840" cy="502920"/>
          </a:xfrm>
          <a:prstGeom prst="rect">
            <a:avLst/>
          </a:prstGeom>
          <a:noFill/>
          <a:effectLst/>
        </p:spPr>
        <p:txBody>
          <a:bodyPr wrap="square">
            <a:spAutoFit/>
          </a:bodyPr>
          <a:lstStyle/>
          <a:p>
            <a:pPr algn="ctr"/>
            <a:r>
              <a:rPr sz="1400" b="1" i="0">
                <a:solidFill>
                  <a:srgbClr val="FFFFFF"/>
                </a:solidFill>
                <a:latin typeface="Meiryo UI"/>
              </a:rPr>
              <a:t>第一歩：</a:t>
            </a:r>
            <a:r>
              <a:rPr sz="1400" b="0" i="0">
                <a:solidFill>
                  <a:srgbClr val="FFFFFF"/>
                </a:solidFill>
                <a:latin typeface="Meiryo UI"/>
              </a:rPr>
              <a:t> 営業の型の可視化（カスタマーパス＋ニーズマップ作成）＋ データ基盤で介入ポイントを可視化</a:t>
            </a:r>
          </a:p>
        </p:txBody>
      </p:sp>
      <p:pic>
        <p:nvPicPr>
          <p:cNvPr id="13" name="Picture 12" descr="logo.png"/>
          <p:cNvPicPr>
            <a:picLocks noChangeAspect="1"/>
          </p:cNvPicPr>
          <p:nvPr/>
        </p:nvPicPr>
        <p:blipFill>
          <a:blip r:embed="rId2"/>
          <a:stretch>
            <a:fillRect/>
          </a:stretch>
        </p:blipFill>
        <p:spPr>
          <a:xfrm>
            <a:off x="9338767" y="83210"/>
            <a:ext cx="2016252" cy="627129"/>
          </a:xfrm>
          <a:prstGeom prst="rect">
            <a:avLst/>
          </a:prstGeom>
        </p:spPr>
      </p:pic>
      <p:sp>
        <p:nvSpPr>
          <p:cNvPr id="14" name="Rectangle 13"/>
          <p:cNvSpPr/>
          <p:nvPr/>
        </p:nvSpPr>
        <p:spPr>
          <a:xfrm>
            <a:off x="838504" y="6355994"/>
            <a:ext cx="10515600" cy="1905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8504" y="6400800"/>
            <a:ext cx="6400800" cy="228600"/>
          </a:xfrm>
          <a:prstGeom prst="rect">
            <a:avLst/>
          </a:prstGeom>
          <a:noFill/>
        </p:spPr>
        <p:txBody>
          <a:bodyPr wrap="none">
            <a:spAutoFit/>
          </a:bodyPr>
          <a:lstStyle/>
          <a:p>
            <a:r>
              <a:rPr sz="900" b="0" i="0">
                <a:solidFill>
                  <a:srgbClr val="888888"/>
                </a:solidFill>
                <a:latin typeface="Meiryo UI"/>
              </a:rPr>
              <a:t>Confidential All Rights Reserved SALESCORE Co., Ltd.</a:t>
            </a:r>
          </a:p>
        </p:txBody>
      </p:sp>
      <p:sp>
        <p:nvSpPr>
          <p:cNvPr id="16" name="TextBox 15"/>
          <p:cNvSpPr txBox="1"/>
          <p:nvPr/>
        </p:nvSpPr>
        <p:spPr>
          <a:xfrm>
            <a:off x="10515600" y="6400800"/>
            <a:ext cx="1371600" cy="228600"/>
          </a:xfrm>
          <a:prstGeom prst="rect">
            <a:avLst/>
          </a:prstGeom>
          <a:noFill/>
        </p:spPr>
        <p:txBody>
          <a:bodyPr wrap="none">
            <a:spAutoFit/>
          </a:bodyPr>
          <a:lstStyle/>
          <a:p>
            <a:pPr algn="r"/>
            <a:r>
              <a:rPr sz="1200" b="0" i="0">
                <a:solidFill>
                  <a:srgbClr val="888888"/>
                </a:solidFill>
                <a:latin typeface="Meiryo UI"/>
              </a:rPr>
              <a:t>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