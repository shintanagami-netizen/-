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貴社の成長戦略は「No.1 Backoffice AI Company」の実現。「SaaS価値向上」「AIプロダクト」「M&amp;A」を3本柱とし、FY28で売上高900億円（現503億の約1.8倍）を目指す。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5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504" y="1280160"/>
            <a:ext cx="3352800" cy="1016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304" y="1518920"/>
            <a:ext cx="457200" cy="457200"/>
          </a:xfrm>
          <a:prstGeom prst="ellipse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2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バックオフィスSaaSの価値向上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2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60超のプロダクトで会計・人事・法務を網羅。顧客基盤の拡大とARPA向上を推進。豊富な業務ロジックを強みに顧客基盤を拡大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9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904" y="1280160"/>
            <a:ext cx="3352800" cy="1016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67704" y="1518920"/>
            <a:ext cx="457200" cy="457200"/>
          </a:xfrm>
          <a:prstGeom prst="ellipse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AIプロダクトの開発・提供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6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AIエージェント／AIネイティブプロダクト／AI×BPOサービスを展開。業務ロジックを活用し自律処理。デジタルツール→デジタルワーカー市場へTAM5倍拡大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304" y="1280160"/>
            <a:ext cx="3352800" cy="440832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304" y="1280160"/>
            <a:ext cx="3352800" cy="101600"/>
          </a:xfrm>
          <a:prstGeom prst="rect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49104" y="1518920"/>
            <a:ext cx="457200" cy="457200"/>
          </a:xfrm>
          <a:prstGeom prst="ellipse">
            <a:avLst/>
          </a:prstGeom>
          <a:solidFill>
            <a:srgbClr val="0066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 UI"/>
              </a:rPr>
              <a:t>M&amp;A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1032" y="2067560"/>
            <a:ext cx="3133344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Meiryo UI"/>
              </a:rPr>
              <a:t>M&amp;A戦略の遂行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1032" y="2524760"/>
            <a:ext cx="3133344" cy="316372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  <a:latin typeface="Meiryo UI"/>
              </a:rPr>
              <a:t>経営管理領域を全方位でカバーするためサービスを拡大。アウトルックコンサルティング社等グループジョイン。SaaS×Fintechの融合で顧客基盤を拡充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FY28 中長期財務ターゲット：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売上高900億円以上 / EBITDA270億円以上 / 事業CF180億円以上　｜　TAMの5倍拡大：デジタルツール市場（2.8兆円）→ デジタルワーカー市場（14.1兆円）</a:t>
            </a:r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お電話でお伺いした事実から、貴社固有の課題仮説を整理しました。合っている・合っていないも含めて率直にお聞かせいただければと思います。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420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お伺いした事実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なぜ起きているか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受注率に個人間ばらつきがある（電話ヒアリングで確認）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60超プロダクトの最適組み合わせが個人の商品知識に依存。「課題パターン×プロダクト組み合わせ」の型が組織に存在しない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提案の型がない｜型なし＝商品知識の差＝受注率の差。競合との機能比較に陥ると価格勝負になる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中途採用を増やしているが1人あたり売上が低下している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会計×60超プロダクト×SaaS/Fintech/AI三層構造は他SaaSと比較にならない複雑さ。前職スキルがそのまま通用せず得意な1〜2商品に偏る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前職スキルが通用しない複雑さ｜採用数に比例して売上が伸びない構造的問題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18336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Salesforce利用中・集計はExcel併用。「戦略と実行の断絶」セミナーに参加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フェーズ別受注率・リードソース別・担当者別の分析が不可。戦略は描けているが実行を支える可視化基盤がない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介入ポイントが見えない｜受注率低下の原因をデータで特定できず、どこに手を打つべきか判断できない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512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1656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提案の型がない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課題パターン×PdX組合せ不在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48632" y="4792370"/>
            <a:ext cx="292608" cy="56692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0"/>
              </a:spcBef>
            </a:pPr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1240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5248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4392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前職スキルが通用しない複雑さ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三層構造がスキル移転を阻害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1368" y="4792370"/>
            <a:ext cx="292608" cy="56692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0"/>
              </a:spcBef>
            </a:pPr>
            <a:r>
              <a:rPr sz="1400" b="1" i="0">
                <a:solidFill>
                  <a:srgbClr val="0066CD"/>
                </a:solidFill>
                <a:latin typeface="Meiryo U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3976" y="4792370"/>
            <a:ext cx="3310128" cy="566928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07984" y="4856378"/>
            <a:ext cx="182880" cy="182880"/>
          </a:xfrm>
          <a:prstGeom prst="ellipse">
            <a:avLst/>
          </a:prstGeom>
          <a:solidFill>
            <a:srgbClr val="284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4A9EFF"/>
                </a:solidFill>
                <a:latin typeface="Meiryo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128" y="5066690"/>
            <a:ext cx="3163824" cy="256032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</a:rPr>
              <a:t>介入ポイントが見えない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データ基盤なく原因特定不可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7664" y="5359298"/>
            <a:ext cx="1097280" cy="329184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/>
            <a:r>
              <a:rPr sz="2000" b="1" i="0">
                <a:solidFill>
                  <a:srgbClr val="0066CD"/>
                </a:solidFill>
                <a:latin typeface="Meiryo UI"/>
              </a:rPr>
              <a:t>↓</a:t>
            </a:r>
          </a:p>
          <a:p>
            <a:pPr algn="ctr"/>
            <a:r>
              <a:rPr sz="1200" b="0" i="0">
                <a:solidFill>
                  <a:srgbClr val="4A9EFF"/>
                </a:solidFill>
                <a:latin typeface="Meiryo UI"/>
              </a:rPr>
              <a:t>3つの課題が収束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8504" y="5688482"/>
            <a:ext cx="10515600" cy="594360"/>
          </a:xfrm>
          <a:prstGeom prst="rect">
            <a:avLst/>
          </a:prstGeom>
          <a:solidFill>
            <a:srgbClr val="1D3461"/>
          </a:solidFill>
          <a:ln w="254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3096" y="5743346"/>
            <a:ext cx="10186416" cy="52120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A9EFF"/>
                </a:solidFill>
                <a:latin typeface="Meiryo UI"/>
              </a:rPr>
              <a:t>▶  帰着点</a:t>
            </a:r>
          </a:p>
          <a:p>
            <a:pPr algn="ctr">
              <a:spcBef>
                <a:spcPts val="300"/>
              </a:spcBef>
            </a:pPr>
            <a:r>
              <a:rPr sz="1600" b="1" i="0">
                <a:solidFill>
                  <a:srgbClr val="FFFFFF"/>
                </a:solidFill>
                <a:latin typeface="Meiryo UI"/>
              </a:rPr>
              <a:t>「営業の型が可視化されていないこと」</a:t>
            </a:r>
          </a:p>
          <a:p>
            <a:pPr algn="ctr">
              <a:spcBef>
                <a:spcPts val="200"/>
              </a:spcBef>
            </a:pPr>
            <a:r>
              <a:rPr sz="1200" b="0" i="0">
                <a:solidFill>
                  <a:srgbClr val="BBC2D0"/>
                </a:solidFill>
                <a:latin typeface="Meiryo UI"/>
              </a:rPr>
              <a:t>採用数に比例して売上が伸びる組織構造が実現できていない</a:t>
            </a:r>
          </a:p>
        </p:txBody>
      </p:sp>
      <p:pic>
        <p:nvPicPr>
          <p:cNvPr id="21" name="Picture 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4994910" cy="24688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2020"/>
                </a:solidFill>
                <a:latin typeface="Meiryo UI"/>
              </a:rPr>
              <a:t>ASIS：戦略推進にあたっての仮説障壁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9194" y="1280160"/>
            <a:ext cx="4994910" cy="246888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D3461"/>
                </a:solidFill>
                <a:latin typeface="Meiryo UI"/>
              </a:rPr>
              <a:t>TOBE：解決策・ご提案骨子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" y="1527048"/>
            <a:ext cx="4994910" cy="1332280"/>
          </a:xfrm>
          <a:prstGeom prst="rect">
            <a:avLst/>
          </a:prstGeom>
          <a:solidFill>
            <a:srgbClr val="F9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504" y="1527048"/>
            <a:ext cx="38100" cy="1332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0612" y="1591056"/>
            <a:ext cx="182880" cy="182880"/>
          </a:xfrm>
          <a:prstGeom prst="ellipse">
            <a:avLst/>
          </a:prstGeom>
          <a:solidFill>
            <a:srgbClr val="E5B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C0392B"/>
                </a:solidFill>
                <a:latin typeface="Meiryo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0068" y="1591056"/>
            <a:ext cx="4609338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2020"/>
                </a:solidFill>
                <a:latin typeface="Meiryo UI"/>
              </a:rPr>
              <a:t>受注率のバラつき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0612" y="1810512"/>
            <a:ext cx="4828794" cy="10122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「課題パターン×組み合わせ提案」の型がなく個人依存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機能売り→競合比較→価格勝負に陥る構造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414" y="1527048"/>
            <a:ext cx="525780" cy="13322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147"/>
              </a:spcBef>
            </a:pPr>
            <a:r>
              <a:rPr sz="1600" b="1" i="0">
                <a:solidFill>
                  <a:srgbClr val="4A9EFF"/>
                </a:solidFill>
                <a:latin typeface="Meiryo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9194" y="1527048"/>
            <a:ext cx="4994910" cy="1332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9194" y="1527048"/>
            <a:ext cx="38100" cy="13322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1302" y="1591056"/>
            <a:ext cx="182880" cy="182880"/>
          </a:xfrm>
          <a:prstGeom prst="ellipse">
            <a:avLst/>
          </a:prstGeom>
          <a:solidFill>
            <a:srgbClr val="2A4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FFFFFF"/>
                </a:solidFill>
                <a:latin typeface="Meiryo UI"/>
              </a:rPr>
              <a:t>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89902" y="1591056"/>
            <a:ext cx="868680" cy="1828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89902" y="1591056"/>
            <a:ext cx="868680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  <a:latin typeface="Meiryo UI"/>
              </a:rPr>
              <a:t>SEP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302" y="1810512"/>
            <a:ext cx="4828794" cy="23774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D3461"/>
                </a:solidFill>
                <a:latin typeface="Meiryo UI"/>
              </a:rPr>
              <a:t>SEP：会計特化の営業の型を設計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302" y="2066544"/>
            <a:ext cx="4828794" cy="75620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カスタマーパス設計 / ニーズマップで型を体系化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中途でも型に沿えば最適提案が可能に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504" y="2941624"/>
            <a:ext cx="4994910" cy="1332280"/>
          </a:xfrm>
          <a:prstGeom prst="rect">
            <a:avLst/>
          </a:prstGeom>
          <a:solidFill>
            <a:srgbClr val="F9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8504" y="2941624"/>
            <a:ext cx="38100" cy="1332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0612" y="3005632"/>
            <a:ext cx="182880" cy="182880"/>
          </a:xfrm>
          <a:prstGeom prst="ellipse">
            <a:avLst/>
          </a:prstGeom>
          <a:solidFill>
            <a:srgbClr val="E5B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C0392B"/>
                </a:solidFill>
                <a:latin typeface="Meiryo U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0068" y="3005632"/>
            <a:ext cx="4609338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2020"/>
                </a:solidFill>
                <a:latin typeface="Meiryo UI"/>
              </a:rPr>
              <a:t>中途がワークしない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612" y="3225088"/>
            <a:ext cx="4828794" cy="10122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採用市場変化×マネフォ固有の複雑さが重なる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前職スキルが通用せず採用増でも1人あたり売上が低下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33414" y="2941624"/>
            <a:ext cx="525780" cy="13322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147"/>
              </a:spcBef>
            </a:pPr>
            <a:r>
              <a:rPr sz="1600" b="1" i="0">
                <a:solidFill>
                  <a:srgbClr val="4A9EFF"/>
                </a:solidFill>
                <a:latin typeface="Meiryo U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9194" y="2941624"/>
            <a:ext cx="4994910" cy="1332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9194" y="2941624"/>
            <a:ext cx="38100" cy="13322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61302" y="3005632"/>
            <a:ext cx="182880" cy="182880"/>
          </a:xfrm>
          <a:prstGeom prst="ellipse">
            <a:avLst/>
          </a:prstGeom>
          <a:solidFill>
            <a:srgbClr val="2A4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FFFFFF"/>
                </a:solidFill>
                <a:latin typeface="Meiryo UI"/>
              </a:rPr>
              <a:t>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9902" y="3005632"/>
            <a:ext cx="868680" cy="1828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89902" y="3005632"/>
            <a:ext cx="868680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  <a:latin typeface="Meiryo UI"/>
              </a:rPr>
              <a:t>VISUALIZE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302" y="3225088"/>
            <a:ext cx="4828794" cy="23774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D3461"/>
                </a:solidFill>
                <a:latin typeface="Meiryo UI"/>
              </a:rPr>
              <a:t>VISUALIZE：介入ポイントを可視化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302" y="3481120"/>
            <a:ext cx="4828794" cy="75620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Excel撤廃→営業企画がデータで即時介入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504" y="4356200"/>
            <a:ext cx="4994910" cy="1332280"/>
          </a:xfrm>
          <a:prstGeom prst="rect">
            <a:avLst/>
          </a:prstGeom>
          <a:solidFill>
            <a:srgbClr val="F9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504" y="4356200"/>
            <a:ext cx="38100" cy="1332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40612" y="4420208"/>
            <a:ext cx="182880" cy="182880"/>
          </a:xfrm>
          <a:prstGeom prst="ellipse">
            <a:avLst/>
          </a:prstGeom>
          <a:solidFill>
            <a:srgbClr val="E5B4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C0392B"/>
                </a:solidFill>
                <a:latin typeface="Meiryo UI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0068" y="4420208"/>
            <a:ext cx="4609338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2020"/>
                </a:solidFill>
                <a:latin typeface="Meiryo UI"/>
              </a:rPr>
              <a:t>介入ポイントが見えない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612" y="4639664"/>
            <a:ext cx="4828794" cy="10122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どのフェーズで受注率が落ちているか可視化できていない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C0392B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PDCAが遅く、打ち手の判断材料がない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33414" y="4356200"/>
            <a:ext cx="525780" cy="13322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3147"/>
              </a:spcBef>
            </a:pPr>
            <a:r>
              <a:rPr sz="1600" b="1" i="0">
                <a:solidFill>
                  <a:srgbClr val="4A9EFF"/>
                </a:solidFill>
                <a:latin typeface="Meiryo U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9194" y="4356200"/>
            <a:ext cx="4994910" cy="1332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9194" y="4356200"/>
            <a:ext cx="38100" cy="133228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61302" y="4420208"/>
            <a:ext cx="182880" cy="182880"/>
          </a:xfrm>
          <a:prstGeom prst="ellipse">
            <a:avLst/>
          </a:prstGeom>
          <a:solidFill>
            <a:srgbClr val="2A4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00"/>
              </a:spcBef>
            </a:pPr>
            <a:r>
              <a:rPr sz="1200" b="1" i="0">
                <a:solidFill>
                  <a:srgbClr val="FFFFFF"/>
                </a:solidFill>
                <a:latin typeface="Meiryo UI"/>
              </a:rPr>
              <a:t>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9902" y="4420208"/>
            <a:ext cx="868680" cy="1828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89902" y="4420208"/>
            <a:ext cx="868680" cy="18288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ctr">
              <a:spcBef>
                <a:spcPts val="100"/>
              </a:spcBef>
            </a:pPr>
            <a:r>
              <a:rPr sz="1200" b="0" i="0">
                <a:solidFill>
                  <a:srgbClr val="FFFFFF"/>
                </a:solidFill>
                <a:latin typeface="Meiryo UI"/>
              </a:rPr>
              <a:t>Buddy伴走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302" y="4639664"/>
            <a:ext cx="4828794" cy="237744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D3461"/>
                </a:solidFill>
                <a:latin typeface="Meiryo UI"/>
              </a:rPr>
              <a:t>Buddy伴走：戦略と実行の断絶を埋める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1302" y="4895696"/>
            <a:ext cx="4828794" cy="756208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朝会夕会×専任Buddy伴走で行動変容を支援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4A9EFF"/>
                </a:solidFill>
                <a:latin typeface="Meiryo UI"/>
              </a:rPr>
              <a:t>– </a:t>
            </a:r>
            <a:r>
              <a:rPr sz="1200" b="0" i="0">
                <a:solidFill>
                  <a:srgbClr val="555555"/>
                </a:solidFill>
                <a:latin typeface="Meiryo UI"/>
              </a:rPr>
              <a:t>型を知る→実行できる→文化になるまで定着支援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8504" y="5779922"/>
            <a:ext cx="10515600" cy="50292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1384" y="5779922"/>
            <a:ext cx="10149840" cy="5029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</a:rPr>
              <a:t>第一歩：</a:t>
            </a:r>
            <a:r>
              <a:rPr sz="1400" b="0" i="0">
                <a:solidFill>
                  <a:srgbClr val="FFFFFF"/>
                </a:solidFill>
                <a:latin typeface="Meiryo UI"/>
              </a:rPr>
              <a:t> 営業の型の可視化（カスタマーパス＋ニーズマップ作成）＋ データ基盤で介入ポイントを可視化</a:t>
            </a:r>
          </a:p>
        </p:txBody>
      </p:sp>
      <p:pic>
        <p:nvPicPr>
          <p:cNvPr id="49" name="Picture 4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