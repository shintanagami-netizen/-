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ご状況について（成長戦略から目指される姿）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貴社の成長戦略は「No.1 Backoffice AI Company」の実現。「SaaS価値向上」「AIプロダクト」「M&amp;A」を3本柱とし、FY28で売上高900億円（現503億の約1.8倍）を目指す。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504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成長戦略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具体内容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目指す姿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バックオフィスSaaSの価値向上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60超のプロダクトで会計・人事・法務を網羅。顧客基盤の拡大とARPA向上を推進。豊富なサービスラインナップと業務ロジックを強みに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顧客基盤の拡大とARPAの向上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AIプロダクトの開発・提供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AIエージェント／AIネイティブプロダクト／AI×BPOサービスの展開。業務ロジックを活用し自律的に処理。デジタルツール市場からデジタルワーカー市場へ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デジタルワーカー市場（14.1兆円）へのTAM拡大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M&amp;A戦略の遂行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経営管理領域を全方位でカバーするためサービスの幅を拡大。アウトルックコンサルティング社等のグループジョイン。SaaS×Fintechの融合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サービス拡充による顧客基盤拡大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8504" y="5779922"/>
            <a:ext cx="10515600" cy="50292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5779922"/>
            <a:ext cx="10149840" cy="502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FY28 中長期財務ターゲット：</a:t>
            </a:r>
            <a:r>
              <a:rPr sz="1400" b="0" i="0">
                <a:solidFill>
                  <a:srgbClr val="FFFFFF"/>
                </a:solidFill>
                <a:latin typeface="Meiryo UI"/>
              </a:rPr>
              <a:t> 売上高900億円以上 / EBITDA270億円以上 / 事業CF180億円以上　｜　TAMの5倍拡大：デジタルツール市場（2.8兆円）→ デジタルワーカー市場（14.1兆円）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事前にお伺いした内容からの課題仮説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お電話でお伺いした事実から、貴社固有の課題仮説を整理しました。合っている・合っていないも含めて率直にお聞かせいただければと思います。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504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事象（Fact）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課題仮説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なぜ起きているか（マネフォ固有の構造要因）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受注率に個人間バラつき。機能売りになりがち。提案の仮説もばらつく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eiryo UI"/>
                        </a:rPr>
                        <a:t>「課題パターン×プロダクト組み合わせ」の型がない。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 60超プロダクトの最適組み合わせは個人の商品知識依存。型なし＝商品知識の差＝受注率の差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会計は業種×規模×フェーズで業務フローが根本的に異なり汎用スクリプトでは対応不可。競合との機能比較→価格勝負に陥り提案の質でしか差がつかない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中途採用を増やしているがワークしない。1人あたり売上が低下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eiryo UI"/>
                        </a:rPr>
                        <a:t>マネフォ固有の複雑さが前職スキルを無効化。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 採用時の評価と実配属後のパフォーマンスにギャップが生じやすい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「会計×60超プロダクト×SaaS/Fintech/AI三層構造」は他SaaSと比較にならない複雑さ。前職スキルがそのまま通用せず得意な1-2商品に偏る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Salesforce利用中・集計はExcel併用。「戦略と実行の断絶」セミナーに参加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eiryo UI"/>
                        </a:rPr>
                        <a:t>受注率低下の原因をデータで特定できず介入ポイントが見えない。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 戦略は描けているが実行を支える基盤がない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フェーズ別受注率・リードソース別担当者別の分析が不可。Excel集計＝ドリルダウンできない＝PDCAが回せない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8504" y="5779922"/>
            <a:ext cx="10515600" cy="50292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384" y="5779922"/>
            <a:ext cx="10149840" cy="502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iryo UI"/>
              </a:rPr>
              <a:t>3仮説の帰着点：</a:t>
            </a:r>
            <a:r>
              <a:rPr sz="1400" b="1" i="0">
                <a:solidFill>
                  <a:srgbClr val="FFFFFF"/>
                </a:solidFill>
                <a:latin typeface="Meiryo UI"/>
              </a:rPr>
              <a:t>「営業の型が可視化されていないこと」</a:t>
            </a:r>
            <a:r>
              <a:rPr sz="1400" b="0" i="0">
                <a:solidFill>
                  <a:srgbClr val="FFFFFF"/>
                </a:solidFill>
                <a:latin typeface="Meiryo UI"/>
              </a:rPr>
              <a:t>。採用数に比例して売上が伸びる組織構造が実現できていない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課題解決に向けたご提案骨子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Meiryo UI"/>
              </a:rPr>
              <a:t>型の設計×データ可視化×伴走の3施策セットで、採用数に比例して売上が伸びる組織を構築する。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ASIS：戦略推進にあたっての仮説障壁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632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TOBE：解決策・ご提案骨子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54" y="1280160"/>
            <a:ext cx="12700" cy="4408322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" y="1627632"/>
            <a:ext cx="5097780" cy="406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受注率のバラつき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「課題パターン×組み合わせ提案」の型がなく個人の商品知識に依存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ヒアリングが浅いまま提案に入り、機能売りに逃げる構造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競合との機能比較→価格勝負に陥るケースが増加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中途がワークしない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採用市場の構造変化×マネフォ固有の複雑さが重なる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前職スキルが通用せず、得意な1-2商品に偏る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採用数が増えても1人あたり売上が低下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介入ポイントが見えない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どのフェーズで受注率が落ちているか可視化できていない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Excel集計＝ドリルダウン不可＝PDCAの回転が遅い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営業企画として打ち手の判断材料がない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6324" y="1627632"/>
            <a:ext cx="5097780" cy="406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SEP：会計特化の営業の型を設計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カスタマーパス設計：意思決定プロセスに沿ったヒアリングの型を実装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ニーズマップ：課題パターン×プロダクト組み合わせを体系化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中途でも型に沿えば最適提案が可能に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VISUALIZE：介入ポイントを可視化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受注率×フェーズ移行率をリアルタイム可視化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リードソース×担当者別のドリルダウン分析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Excel撤廃→営業企画がデータで即時介入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Buddy伴走：戦略と実行の断絶を埋める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朝会夕会の運用設計×専任Buddy伴走で行動変容を支援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型を知る→実行できる→文化になるまで定着支援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FY28へ向け採用数比例の成長組織を構築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504" y="5779922"/>
            <a:ext cx="10515600" cy="50292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84" y="5779922"/>
            <a:ext cx="10149840" cy="502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</a:rPr>
              <a:t>第一歩：</a:t>
            </a:r>
            <a:r>
              <a:rPr sz="1400" b="0" i="0">
                <a:solidFill>
                  <a:srgbClr val="FFFFFF"/>
                </a:solidFill>
                <a:latin typeface="Meiryo UI"/>
              </a:rPr>
              <a:t> 営業の型の可視化（カスタマーパス＋ニーズマップ作成）＋ データ基盤で介入ポイントを可視化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