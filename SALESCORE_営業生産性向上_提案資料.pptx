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685800"/>
            <a:ext cx="11430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00800"/>
            <a:ext cx="11430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lesco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920240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oto Sans JP"/>
              </a:rPr>
              <a:t>株式会社〇〇  御中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Noto Sans JP"/>
              </a:rPr>
              <a:t>営業生産性を2倍にする
3つのアクション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JP"/>
              </a:rPr>
              <a:t>SALESCORE株式会社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Noto Sans JP"/>
              </a:rPr>
              <a:t>Confidential All Rights Reserved SALESCORE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Noto Sans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685800"/>
            <a:ext cx="11430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JP"/>
              </a:rPr>
              <a:t>売上の8割を2割の「できる営業」が担う構造が、組織スケールを阻んでいる</a:t>
            </a:r>
          </a:p>
        </p:txBody>
      </p:sp>
      <p:pic>
        <p:nvPicPr>
          <p:cNvPr id="4" name="Picture 3" descr="salesco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92024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400800"/>
            <a:ext cx="11430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Noto Sans JP"/>
              </a:rPr>
              <a:t>Confidential All Rights Reserved SALESCORE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Noto Sans JP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日本の営業組織が抱える構造的課題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JP"/>
              </a:rPr>
              <a:t>売上の78%をトップ20%の営業が創出。属人化が組織の成長を制約している。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303520" cy="3657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属人化が生む3つの弊害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03520" cy="1005840"/>
          </a:xfrm>
          <a:prstGeom prst="rect">
            <a:avLst/>
          </a:prstGeom>
          <a:solidFill>
            <a:srgbClr val="DBEAF8"/>
          </a:solidFill>
          <a:ln w="19050">
            <a:solidFill>
              <a:srgbClr val="275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JP"/>
              </a:rPr>
              <a:t>育成が属人的で
ノウハウが継承されない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5303520" cy="1005840"/>
          </a:xfrm>
          <a:prstGeom prst="rect">
            <a:avLst/>
          </a:prstGeom>
          <a:solidFill>
            <a:srgbClr val="DBEAF8"/>
          </a:solidFill>
          <a:ln w="19050">
            <a:solidFill>
              <a:srgbClr val="275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JP"/>
              </a:rPr>
              <a:t>マネジャーが「感覚」で
マネジメントする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5303520" cy="1005840"/>
          </a:xfrm>
          <a:prstGeom prst="rect">
            <a:avLst/>
          </a:prstGeom>
          <a:solidFill>
            <a:srgbClr val="DBEAF8"/>
          </a:solidFill>
          <a:ln w="19050">
            <a:solidFill>
              <a:srgbClr val="275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411480" cy="4114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JP"/>
              </a:rPr>
              <a:t>組織が拡大しても
売上が比例して伸びない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577840" cy="3657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売上構成比の実態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JP"/>
              </a:rPr>
              <a:t>トップ20%の営業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4480560" cy="5029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JP"/>
              </a:rPr>
              <a:t>残り80%の営業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611880"/>
            <a:ext cx="1234440" cy="502920"/>
          </a:xfrm>
          <a:prstGeom prst="rect">
            <a:avLst/>
          </a:prstGeom>
          <a:solidFill>
            <a:srgbClr val="275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572000"/>
            <a:ext cx="5577840" cy="1005840"/>
          </a:xfrm>
          <a:prstGeom prst="rect">
            <a:avLst/>
          </a:prstGeom>
          <a:solidFill>
            <a:srgbClr val="DBEAF8"/>
          </a:solidFill>
          <a:ln w="25400">
            <a:solidFill>
              <a:srgbClr val="275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6177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6E"/>
                </a:solidFill>
                <a:latin typeface="Noto Sans JP"/>
              </a:rPr>
              <a:t>→ 個人の「才能」ではなく、
　 仕組みで再現することが急務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685800"/>
            <a:ext cx="11430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JP"/>
              </a:rPr>
              <a:t>営業生産性を2倍にする「3つのアクション」</a:t>
            </a:r>
          </a:p>
        </p:txBody>
      </p:sp>
      <p:pic>
        <p:nvPicPr>
          <p:cNvPr id="4" name="Picture 3" descr="salesco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92024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400800"/>
            <a:ext cx="11430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Noto Sans JP"/>
              </a:rPr>
              <a:t>Confidential All Rights Reserved SALESCORE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Noto Sans JP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JP"/>
              </a:rPr>
              <a:t>データで行動を可視化し、再現可能な仕組みに変換することで、組織全体の底上げが実現できる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75BC4"/>
                </a:solidFill>
                <a:latin typeface="Noto Sans JP"/>
              </a:rPr>
              <a:t>◀━━━━━━ 約1〜2ヶ月 ━━━━━━▶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474720" cy="100584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ACTION
01
Keyアクション
特定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3A6E"/>
                </a:solidFill>
                <a:latin typeface="Noto Sans JP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474720" cy="100584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ACTION
02
仕組み
実装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3A6E"/>
                </a:solidFill>
                <a:latin typeface="Noto Sans JP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474720" cy="100584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ACTION
03
習慣化
定着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34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oto Sans JP"/>
              </a:rPr>
              <a:t>・お打ち合わせ段階で
　録画視聴やインタビューを実施
・勝ちパターンの仮説設計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834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oto Sans JP"/>
              </a:rPr>
              <a:t>・KeyアクションをKPIに実装
・会議体・ダッシュボード設計
・現場への運用説明会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oto Sans JP"/>
              </a:rPr>
              <a:t>・日々の会議体で進捗確認
・ブロッカーをタイムリー排除
・アジャイルに磨き込み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34747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5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37360" y="3886200"/>
            <a:ext cx="731520" cy="457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利点
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6E"/>
                </a:solidFill>
                <a:latin typeface="Noto Sans JP"/>
              </a:rPr>
              <a:t>短期で成果出しの
検証まで実行できる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114800"/>
            <a:ext cx="34747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5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3886200"/>
            <a:ext cx="731520" cy="457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利点
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89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6E"/>
                </a:solidFill>
                <a:latin typeface="Noto Sans JP"/>
              </a:rPr>
              <a:t>成功体験を経て
要領がわかる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14800"/>
            <a:ext cx="34747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5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3886200"/>
            <a:ext cx="731520" cy="457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利点
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6E"/>
                </a:solidFill>
                <a:latin typeface="Noto Sans JP"/>
              </a:rPr>
              <a:t>戦略を実行する習慣が
形成され成果にHITする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