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C1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alescor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4048"/>
            <a:ext cx="1645920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11480" y="1005840"/>
            <a:ext cx="3383280" cy="1905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IPAGothic"/>
              </a:rPr>
              <a:t>SALESCORE株式会社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IPAGothic"/>
              </a:rPr>
              <a:t>2026年3月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00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0"/>
            <a:ext cx="5486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60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75569"/>
                </a:solidFill>
                <a:latin typeface="IPAGothic"/>
              </a:rPr>
              <a:t>株式会社〇〇  御中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1993392"/>
            <a:ext cx="6858000" cy="381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858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F172A"/>
                </a:solidFill>
                <a:latin typeface="IPAGothic"/>
              </a:rPr>
              <a:t>営業生産性を2倍にする
3つのアクション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4681728"/>
            <a:ext cx="6858000" cy="190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4773168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  <a:latin typeface="IPAGothic"/>
              </a:rPr>
              <a:t>データ活用 × 行動変容 × 組織定着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lescor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164592"/>
            <a:ext cx="1737360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18288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IPAGothic"/>
              </a:rPr>
              <a:t>売上の8割を2割の「できる営業」が担う構造が、組織スケールを阻んでいる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749808"/>
            <a:ext cx="11000232" cy="3175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6327648"/>
            <a:ext cx="11000232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73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Confidential  All Rights Reserved SALESCORE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3733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IPAGothic"/>
              </a:rPr>
              <a:t>売上の78%をトップ20%の営業が創出。属人化が組織の成長を制約している。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120640" cy="3840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FFFFFF"/>
                </a:solidFill>
                <a:latin typeface="IPAGothic"/>
              </a:rPr>
              <a:t>属人化が生む 3 つの弊害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72184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PAGothic"/>
              </a:rPr>
              <a:t>属人化が生む 3 つの弊害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892808"/>
            <a:ext cx="5120640" cy="1389888"/>
          </a:xfrm>
          <a:prstGeom prst="rect">
            <a:avLst/>
          </a:prstGeom>
          <a:solidFill>
            <a:srgbClr val="EFF4FF"/>
          </a:solidFill>
          <a:ln w="1524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" y="2057400"/>
            <a:ext cx="420624" cy="42062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7592" y="2020824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IPAGothic"/>
              </a:rPr>
              <a:t>育成が属人的でノウハウが継承されない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2368296"/>
            <a:ext cx="42976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IPAGothic"/>
              </a:rPr>
              <a:t>トップ営業の知識・経験が組織内に蓄積されず、
離職や異動のたびにノウハウがリセットされる。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401568"/>
            <a:ext cx="5120640" cy="1389888"/>
          </a:xfrm>
          <a:prstGeom prst="rect">
            <a:avLst/>
          </a:prstGeom>
          <a:solidFill>
            <a:srgbClr val="EFF4FF"/>
          </a:solidFill>
          <a:ln w="1524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" y="3566160"/>
            <a:ext cx="420624" cy="42062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3529584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IPAGothic"/>
              </a:rPr>
              <a:t>マネジャーが「感覚」でマネジメントする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3877056"/>
            <a:ext cx="42976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IPAGothic"/>
              </a:rPr>
              <a:t>行動データが可視化されておらず、指示が
経験値・直感に依存するため再現性がない。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4910328"/>
            <a:ext cx="5120640" cy="1389888"/>
          </a:xfrm>
          <a:prstGeom prst="rect">
            <a:avLst/>
          </a:prstGeom>
          <a:solidFill>
            <a:srgbClr val="EFF4FF"/>
          </a:solidFill>
          <a:ln w="1524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74920"/>
            <a:ext cx="420624" cy="420624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5038344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IPAGothic"/>
              </a:rPr>
              <a:t>組織が拡大しても売上が比例して伸びない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5385816"/>
            <a:ext cx="42976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75569"/>
                </a:solidFill>
                <a:latin typeface="IPAGothic"/>
              </a:rPr>
              <a:t>人材追加コストが増加する一方、
勝ちパターンが展開できず生産性が停滞する。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1417320"/>
            <a:ext cx="5376672" cy="3840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472184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IPAGothic"/>
              </a:rPr>
              <a:t>売上構成比の実態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075688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IPAGothic"/>
              </a:rPr>
              <a:t>トップ 20% の営業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331720"/>
            <a:ext cx="3979834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236976"/>
            <a:ext cx="53766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IPAGothic"/>
              </a:rPr>
              <a:t>残り 80% の営業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493008"/>
            <a:ext cx="1122517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977640"/>
            <a:ext cx="5376672" cy="1691640"/>
          </a:xfrm>
          <a:prstGeom prst="rect">
            <a:avLst/>
          </a:prstGeom>
          <a:solidFill>
            <a:srgbClr val="EFF4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8232" y="4142232"/>
            <a:ext cx="5010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IPAGothic"/>
              </a:rPr>
              <a:t>→ 結論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434840"/>
            <a:ext cx="501091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IPAGothic"/>
              </a:rPr>
              <a:t>個人の「才能」に依存した営業から脱却し、
データと仕組みで誰もが成果を出せる組織へ転換することが急務。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lescor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164592"/>
            <a:ext cx="1737360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18288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IPAGothic"/>
              </a:rPr>
              <a:t>営業生産性を2倍にする「3つのアクション」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749808"/>
            <a:ext cx="11000232" cy="3175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6327648"/>
            <a:ext cx="11000232" cy="127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73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Confidential  All Rights Reserved SALESCORE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3733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IPAGothic"/>
              </a:rPr>
              <a:t>データで行動を可視化し、再現可能な仕組みに変換することで、組織全体の底上げが実現できる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44752"/>
            <a:ext cx="11000232" cy="254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170432"/>
            <a:ext cx="11000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563EB"/>
                </a:solidFill>
                <a:latin typeface="IPAGothic"/>
              </a:rPr>
              <a:t>◀  導入から約 1〜2 ヶ月で成果検証フェーズへ  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508760"/>
            <a:ext cx="3474720" cy="10789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6184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B82F6"/>
                </a:solidFill>
                <a:latin typeface="Calibri"/>
              </a:rPr>
              <a:t>ACTION 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1892808"/>
            <a:ext cx="325526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IPAGothic"/>
              </a:rPr>
              <a:t>Key アクション特定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1874520"/>
            <a:ext cx="30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3A8A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715768"/>
            <a:ext cx="3474720" cy="1572768"/>
          </a:xfrm>
          <a:prstGeom prst="rect">
            <a:avLst/>
          </a:prstGeom>
          <a:solidFill>
            <a:srgbClr val="EFF4FF"/>
          </a:solidFill>
          <a:ln w="1016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2825496"/>
            <a:ext cx="321868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  <a:latin typeface="IPAGothic"/>
              </a:rPr>
              <a:t>・お打ち合わせ段階で
　 録画視聴・インタビューを実施
・トップ営業の行動パターン分析
・勝ちパターンの仮説設計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4562856"/>
            <a:ext cx="1097280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IPAGothic"/>
              </a:rPr>
              <a:t>利点  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42764"/>
            <a:ext cx="3474720" cy="987552"/>
          </a:xfrm>
          <a:prstGeom prst="rect">
            <a:avLst/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970780"/>
            <a:ext cx="32186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3A8A"/>
                </a:solidFill>
                <a:latin typeface="IPAGothic"/>
              </a:rPr>
              <a:t>短期で成果出しの
検証まで実行できる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1508760"/>
            <a:ext cx="3474720" cy="10789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16184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B82F6"/>
                </a:solidFill>
                <a:latin typeface="Calibri"/>
              </a:rPr>
              <a:t>ACTION  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2" y="1892808"/>
            <a:ext cx="325526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IPAGothic"/>
              </a:rPr>
              <a:t>仕組み実装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874520"/>
            <a:ext cx="301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3A8A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2715768"/>
            <a:ext cx="3474720" cy="1572768"/>
          </a:xfrm>
          <a:prstGeom prst="rect">
            <a:avLst/>
          </a:prstGeom>
          <a:solidFill>
            <a:srgbClr val="EFF4FF"/>
          </a:solidFill>
          <a:ln w="1016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25696" y="2825496"/>
            <a:ext cx="321868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  <a:latin typeface="IPAGothic"/>
              </a:rPr>
              <a:t>・Key アクションを KPI に実装
・会議体・ダッシュボード設計
・現場への運用説明会の実施
・管理職トレーニング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9824" y="4562856"/>
            <a:ext cx="1097280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IPAGothic"/>
              </a:rPr>
              <a:t>利点  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61104" y="4842764"/>
            <a:ext cx="3474720" cy="987552"/>
          </a:xfrm>
          <a:prstGeom prst="rect">
            <a:avLst/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4970780"/>
            <a:ext cx="32186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3A8A"/>
                </a:solidFill>
                <a:latin typeface="IPAGothic"/>
              </a:rPr>
              <a:t>成功体験を経て
要領がわかる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7848" y="1508760"/>
            <a:ext cx="3474720" cy="107899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16184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B82F6"/>
                </a:solidFill>
                <a:latin typeface="Calibri"/>
              </a:rPr>
              <a:t>ACTION  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37576" y="1892808"/>
            <a:ext cx="325526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IPAGothic"/>
              </a:rPr>
              <a:t>習慣化・定着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7848" y="2715768"/>
            <a:ext cx="3474720" cy="1572768"/>
          </a:xfrm>
          <a:prstGeom prst="rect">
            <a:avLst/>
          </a:prstGeom>
          <a:solidFill>
            <a:srgbClr val="EFF4FF"/>
          </a:solidFill>
          <a:ln w="1016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92440" y="2825496"/>
            <a:ext cx="321868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F172A"/>
                </a:solidFill>
                <a:latin typeface="IPAGothic"/>
              </a:rPr>
              <a:t>・日々の会議体で進捗確認
・ブロッカーをタイムリー排除
・アジャイルに磨き込み
・効果測定と横展開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16568" y="4562856"/>
            <a:ext cx="1097280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IPAGothic"/>
              </a:rPr>
              <a:t>利点  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27848" y="4842764"/>
            <a:ext cx="3474720" cy="987552"/>
          </a:xfrm>
          <a:prstGeom prst="rect">
            <a:avLst/>
          </a:prstGeom>
          <a:solidFill>
            <a:srgbClr val="FFFFFF"/>
          </a:solidFill>
          <a:ln w="228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55864" y="4970780"/>
            <a:ext cx="3218688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3A8A"/>
                </a:solidFill>
                <a:latin typeface="IPAGothic"/>
              </a:rPr>
              <a:t>戦略を実行する習慣が
形成され成果に HIT 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