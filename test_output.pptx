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D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88952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898855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</a:rPr>
              <a:t>〇〇市 次期システム導入提案書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059936"/>
            <a:ext cx="12188952" cy="54864"/>
          </a:xfrm>
          <a:prstGeom prst="rect">
            <a:avLst/>
          </a:prstGeom>
          <a:solidFill>
            <a:srgbClr val="1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53719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1A1A1A"/>
                </a:solidFill>
              </a:rPr>
              <a:t>概要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457432" cy="5541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本提案は〇〇市の次期業務システム導入に関するものです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現行システムの課題を解決し、業務効率化を実現します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導入期間：2026年10月〜2027年3月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53719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1A1A1A"/>
                </a:solidFill>
              </a:rPr>
              <a:t>現状の課題とニーズ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457432" cy="5541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現行システムは2010年導入で老朽化が進んでいる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複数システムが乱立しており、データ連携が困難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職員のITリテラシーに差があり、操作性の改善が必要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セキュリティ基準への対応が不十分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53719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1A1A1A"/>
                </a:solidFill>
              </a:rPr>
              <a:t>次期システムの方針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457432" cy="5541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1" i="0">
                <a:solidFill>
                  <a:srgbClr val="1B4FA8"/>
                </a:solidFill>
              </a:rPr>
              <a:t>1. </a:t>
            </a:r>
            <a:r>
              <a:rPr sz="1400" b="0" i="0">
                <a:solidFill>
                  <a:srgbClr val="1A1A1A"/>
                </a:solidFill>
              </a:rPr>
              <a:t>クラウドベースのシステム統合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1" i="0">
                <a:solidFill>
                  <a:srgbClr val="1B4FA8"/>
                </a:solidFill>
              </a:rPr>
              <a:t>2. </a:t>
            </a:r>
            <a:r>
              <a:rPr sz="1400" b="0" i="0">
                <a:solidFill>
                  <a:srgbClr val="1A1A1A"/>
                </a:solidFill>
              </a:rPr>
              <a:t>直感的なUI/UXの採用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1" i="0">
                <a:solidFill>
                  <a:srgbClr val="1B4FA8"/>
                </a:solidFill>
              </a:rPr>
              <a:t>3. </a:t>
            </a:r>
            <a:r>
              <a:rPr sz="1400" b="0" i="0">
                <a:solidFill>
                  <a:srgbClr val="1A1A1A"/>
                </a:solidFill>
              </a:rPr>
              <a:t>既存データの完全移行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1" i="0">
                <a:solidFill>
                  <a:srgbClr val="1B4FA8"/>
                </a:solidFill>
              </a:rPr>
              <a:t>4. </a:t>
            </a:r>
            <a:r>
              <a:rPr sz="1400" b="0" i="0">
                <a:solidFill>
                  <a:srgbClr val="1A1A1A"/>
                </a:solidFill>
              </a:rPr>
              <a:t>セキュリティ強化（ゼロトラスト対応）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53719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1A1A1A"/>
                </a:solidFill>
              </a:rPr>
              <a:t>導入スケジュール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457432" cy="5541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2026年10月：要件定義・設計開始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2026年12月：開発・テスト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2027年2月：移行・並行稼働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2027年3月：本番リリース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