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977639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88952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39539"/>
            <a:ext cx="12188952" cy="76200"/>
          </a:xfrm>
          <a:prstGeom prst="rect">
            <a:avLst/>
          </a:prstGeom>
          <a:solidFill>
            <a:srgbClr val="1B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13739"/>
            <a:ext cx="8714232" cy="2187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営業力強化プロジェクト提案書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01441"/>
            <a:ext cx="8714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CCD8F0"/>
                </a:solidFill>
              </a:rPr>
              <a:t>株式会社サンプル御中　2026年3月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1. 現状分析と課題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1.1. 現状分析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D3461"/>
                </a:solidFill>
              </a:rPr>
              <a:t>営業組織が抱える構造的課題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23544"/>
            <a:ext cx="12188952" cy="54864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87044"/>
            <a:ext cx="11411712" cy="472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多くの企業では属人的な営業スタイルが定着しており、成果の再現性と組織的拡張性が阻害されている。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45336"/>
            <a:ext cx="11411712" cy="2367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トップ営業と一般営業のパフォーマンス差が3倍以上存在する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ノウハウが個人の頭の中に留まり組織資産化されていない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新人育成期間が長期化し、即戦力化に平均12ヶ月を要している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データ活用が進まず「勘と経験」頼りの意思決定が常態化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SFAへの入力率が30%未満、活用されないデータが蓄積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商談の振り返りがなく、失注理由の構造分析が未実施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54399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14724"/>
            <a:ext cx="11411712" cy="2367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管理職のマネジメントが属人的で、チームパフォーマンスにばらつき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1on1の質が個人差に依存し、組織として標準化されていない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KPIが結果指標（売上）のみで、プロセス指標が未整備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1.2. 課題構造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D3461"/>
                </a:solidFill>
              </a:rPr>
              <a:t>根本原因の整理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23544"/>
            <a:ext cx="12188952" cy="54864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87044"/>
            <a:ext cx="11411712" cy="472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表面的な施策ではなく、仕組みと文化の両面からアプローチすることが不可欠。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45336"/>
            <a:ext cx="11411712" cy="4837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1. </a:t>
            </a:r>
            <a:r>
              <a:rPr sz="1300" b="0" i="0">
                <a:solidFill>
                  <a:srgbClr val="1A1A1A"/>
                </a:solidFill>
              </a:rPr>
              <a:t>勝ちパターンの言語化・共有が未実施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2. </a:t>
            </a:r>
            <a:r>
              <a:rPr sz="1300" b="0" i="0">
                <a:solidFill>
                  <a:srgbClr val="1A1A1A"/>
                </a:solidFill>
              </a:rPr>
              <a:t>データドリブンな意思決定プロセスが存在しない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300" b="1" i="0">
                <a:solidFill>
                  <a:srgbClr val="1B4FA8"/>
                </a:solidFill>
              </a:rPr>
              <a:t>3. </a:t>
            </a:r>
            <a:r>
              <a:rPr sz="1300" b="0" i="0">
                <a:solidFill>
                  <a:srgbClr val="1A1A1A"/>
                </a:solidFill>
              </a:rPr>
              <a:t>習慣化を支える仕組みとツールが不足している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14600"/>
            <a:ext cx="999439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FFFFFF"/>
                </a:solidFill>
              </a:rPr>
              <a:t>2. 提案アプローチ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657600"/>
            <a:ext cx="2286000" cy="38100"/>
          </a:xfrm>
          <a:prstGeom prst="rect">
            <a:avLst/>
          </a:prstGeom>
          <a:solidFill>
            <a:srgbClr val="1E6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008"/>
            <a:ext cx="949147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 i="0">
                <a:solidFill>
                  <a:srgbClr val="55657A"/>
                </a:solidFill>
              </a:rPr>
              <a:t>2.1. 支援フレームワーク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"/>
            <a:ext cx="9491472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 i="0">
                <a:solidFill>
                  <a:srgbClr val="1D3461"/>
                </a:solidFill>
              </a:rPr>
              <a:t>SALESCOREの提供価値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58952"/>
            <a:ext cx="12188952" cy="2286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923544"/>
            <a:ext cx="12188952" cy="54864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987044"/>
            <a:ext cx="11411712" cy="472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1A1A1A"/>
                </a:solidFill>
              </a:rPr>
              <a:t>「仕組みづくり」と「文化醸成」の両輪で、再現性ある営業組織への変革を伴走支援する。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45336"/>
            <a:ext cx="11411712" cy="2367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フェーズ1：調査・企画（約1ヶ月）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現状の商談録画・インタビューによるKeyアクション特定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AsIs/ToBe整理とKPI設計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フェーズ2：設計・実装（約2ヶ月）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SaaSダッシュボード実装と運用設計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営業プロセスの標準化・マニュアル整備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54399"/>
            <a:ext cx="11411712" cy="127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14724"/>
            <a:ext cx="11411712" cy="2367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フェーズ3：習慣化・定着（継続支援）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週次PDCAの仕組み化と会議体設計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マネジャー育成とコーチングモデル導入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b="0" i="0">
                <a:solidFill>
                  <a:srgbClr val="1B4FA8"/>
                </a:solidFill>
              </a:rPr>
              <a:t>• </a:t>
            </a:r>
            <a:r>
              <a:rPr sz="1300" b="0" i="0">
                <a:solidFill>
                  <a:srgbClr val="1A1A1A"/>
                </a:solidFill>
              </a:rPr>
              <a:t>成果測定と継続的改善サイクルの確立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112" y="73152"/>
            <a:ext cx="2011680" cy="62570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6473952"/>
            <a:ext cx="12188952" cy="15240"/>
          </a:xfrm>
          <a:prstGeom prst="rect">
            <a:avLst/>
          </a:prstGeom>
          <a:solidFill>
            <a:srgbClr val="1D34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524752"/>
            <a:ext cx="7315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0" i="0">
                <a:solidFill>
                  <a:srgbClr val="888888"/>
                </a:solidFill>
              </a:rPr>
              <a:t>Confidential All Rights Reserved SALESCORE Inc.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0156" y="6524752"/>
            <a:ext cx="548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0" i="0">
                <a:solidFill>
                  <a:srgbClr val="888888"/>
                </a:solidFill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