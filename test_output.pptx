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47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1645920"/>
            <a:ext cx="11868912" cy="2286000"/>
          </a:xfrm>
          <a:prstGeom prst="rect">
            <a:avLst/>
          </a:prstGeom>
          <a:solidFill>
            <a:srgbClr val="0047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109167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FFFFFF"/>
                </a:solidFill>
              </a:rPr>
              <a:t>〇〇市 次期システム導入提案書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6720840"/>
            <a:ext cx="11868912" cy="137160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9144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47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11868912" cy="1005840"/>
          </a:xfrm>
          <a:prstGeom prst="rect">
            <a:avLst/>
          </a:prstGeom>
          <a:solidFill>
            <a:srgbClr val="0047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"/>
            <a:ext cx="112745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rgbClr val="FFFFFF"/>
                </a:solidFill>
              </a:rPr>
              <a:t>概要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365992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600" b="0" i="0">
                <a:solidFill>
                  <a:srgbClr val="1A1A2E"/>
                </a:solidFill>
              </a:rPr>
              <a:t>・本提案は〇〇市の次期業務システム導入に関するものです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600" b="0" i="0">
                <a:solidFill>
                  <a:srgbClr val="1A1A2E"/>
                </a:solidFill>
              </a:rPr>
              <a:t>・現行システムの課題を解決し、業務効率化を実現します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600" b="0" i="0">
                <a:solidFill>
                  <a:srgbClr val="1A1A2E"/>
                </a:solidFill>
              </a:rPr>
              <a:t>・導入期間：2026年10月〜2027年3月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6748272"/>
            <a:ext cx="11868912" cy="109728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9144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47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11868912" cy="1005840"/>
          </a:xfrm>
          <a:prstGeom prst="rect">
            <a:avLst/>
          </a:prstGeom>
          <a:solidFill>
            <a:srgbClr val="0047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"/>
            <a:ext cx="112745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rgbClr val="FFFFFF"/>
                </a:solidFill>
              </a:rPr>
              <a:t>現状の課題とニーズ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365992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600" b="0" i="0">
                <a:solidFill>
                  <a:srgbClr val="1A1A2E"/>
                </a:solidFill>
              </a:rPr>
              <a:t>・現行システムは2010年導入で老朽化が進んでいる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600" b="0" i="0">
                <a:solidFill>
                  <a:srgbClr val="1A1A2E"/>
                </a:solidFill>
              </a:rPr>
              <a:t>・複数システムが乱立しており、データ連携が困難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600" b="0" i="0">
                <a:solidFill>
                  <a:srgbClr val="1A1A2E"/>
                </a:solidFill>
              </a:rPr>
              <a:t>・職員のITリテラシーに差があり、操作性の改善が必要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600" b="0" i="0">
                <a:solidFill>
                  <a:srgbClr val="1A1A2E"/>
                </a:solidFill>
              </a:rPr>
              <a:t>・セキュリティ基準への対応が不十分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6748272"/>
            <a:ext cx="11868912" cy="109728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9144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47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11868912" cy="1005840"/>
          </a:xfrm>
          <a:prstGeom prst="rect">
            <a:avLst/>
          </a:prstGeom>
          <a:solidFill>
            <a:srgbClr val="0047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"/>
            <a:ext cx="112745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rgbClr val="FFFFFF"/>
                </a:solidFill>
              </a:rPr>
              <a:t>次期システムの方針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365992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600" b="0" i="0">
                <a:solidFill>
                  <a:srgbClr val="1A1A2E"/>
                </a:solidFill>
              </a:rPr>
              <a:t>1. クラウドベースのシステム統合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600" b="0" i="0">
                <a:solidFill>
                  <a:srgbClr val="1A1A2E"/>
                </a:solidFill>
              </a:rPr>
              <a:t>2. 直感的なUI/UXの採用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600" b="0" i="0">
                <a:solidFill>
                  <a:srgbClr val="1A1A2E"/>
                </a:solidFill>
              </a:rPr>
              <a:t>3. 既存データの完全移行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600" b="0" i="0">
                <a:solidFill>
                  <a:srgbClr val="1A1A2E"/>
                </a:solidFill>
              </a:rPr>
              <a:t>4. セキュリティ強化（ゼロトラスト対応）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6748272"/>
            <a:ext cx="11868912" cy="109728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9144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47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11868912" cy="1005840"/>
          </a:xfrm>
          <a:prstGeom prst="rect">
            <a:avLst/>
          </a:prstGeom>
          <a:solidFill>
            <a:srgbClr val="0047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"/>
            <a:ext cx="112745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rgbClr val="FFFFFF"/>
                </a:solidFill>
              </a:rPr>
              <a:t>導入スケジュール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365992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600" b="0" i="0">
                <a:solidFill>
                  <a:srgbClr val="1A1A2E"/>
                </a:solidFill>
              </a:rPr>
              <a:t>・2026年10月：要件定義・設計開始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600" b="0" i="0">
                <a:solidFill>
                  <a:srgbClr val="1A1A2E"/>
                </a:solidFill>
              </a:rPr>
              <a:t>・2026年12月：開発・テスト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600" b="0" i="0">
                <a:solidFill>
                  <a:srgbClr val="1A1A2E"/>
                </a:solidFill>
              </a:rPr>
              <a:t>・2027年2月：移行・並行稼働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600" b="0" i="0">
                <a:solidFill>
                  <a:srgbClr val="1A1A2E"/>
                </a:solidFill>
              </a:rPr>
              <a:t>・2027年3月：本番リリース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6748272"/>
            <a:ext cx="11868912" cy="109728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9144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